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63" autoAdjust="0"/>
    <p:restoredTop sz="94660"/>
  </p:normalViewPr>
  <p:slideViewPr>
    <p:cSldViewPr snapToGrid="0">
      <p:cViewPr varScale="1">
        <p:scale>
          <a:sx n="79" d="100"/>
          <a:sy n="79" d="100"/>
        </p:scale>
        <p:origin x="9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2C50E-0F2E-1BD2-6BCF-E33B4F339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A22704-62CA-04D6-530E-2D367C945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156D01-45CD-1E62-C31A-9F6ED6A31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93D0-E4D4-4F9B-9E6B-51B36728FB2A}" type="datetimeFigureOut">
              <a:rPr lang="pt-BR" smtClean="0"/>
              <a:t>28/06/2026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A3698-E88E-B81B-1D25-530866A93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B25128-5861-9812-FB53-2F6F504D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D357-2EEE-452F-BEE6-D1333264C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7552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FC3D3C-52D2-5C0C-DA6E-D1C4F2679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8B8075-5D7D-735D-8289-2555EE565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F03480-883E-9667-2176-8825D3F77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93D0-E4D4-4F9B-9E6B-51B36728FB2A}" type="datetimeFigureOut">
              <a:rPr lang="pt-BR" smtClean="0"/>
              <a:t>28/06/2026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97D854-6D62-202F-8F01-39B62D9C9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BB52F7-7981-9964-8711-759D3BA5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D357-2EEE-452F-BEE6-D1333264C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561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F1F239-00D8-3DC7-0077-7C0A0A657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90CDB3-EE20-184C-0B54-FCB7646DC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5B127D-2F3D-3843-AE13-B8E0F8CAE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93D0-E4D4-4F9B-9E6B-51B36728FB2A}" type="datetimeFigureOut">
              <a:rPr lang="pt-BR" smtClean="0"/>
              <a:t>28/06/2026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3AF16B-1C94-9F06-6A53-BAA545BDB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21BFAD-A43D-EEF3-F1B4-FBA8817D0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D357-2EEE-452F-BEE6-D1333264C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5461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C95A6-87D3-CE35-4596-2245FDC5C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0BCA06-C283-55DF-C095-D7186230F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2D56AC-3A91-E36C-60D9-9E650112B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CB4A27-B610-BAA7-C5C9-A4E6BD5DA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93D0-E4D4-4F9B-9E6B-51B36728FB2A}" type="datetimeFigureOut">
              <a:rPr lang="pt-BR" smtClean="0"/>
              <a:t>28/06/2026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383F3A-7118-D9AD-C1B8-1A811BFC9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66B7E0-9557-EBB3-9860-EF7C3EF5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D357-2EEE-452F-BEE6-D1333264C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3526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2BC9D-760A-86A3-3A85-F56B0BEA0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17256F-0A26-EC1F-0348-E50CB6E94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1A0D4C3-B1E6-70DA-6162-F09C75A4B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F3870AB-E1B3-6152-E6CA-B3456FADCC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C3E081E-6E6C-84C5-BED1-831B484C8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2C26D53-8927-8BC9-9C17-7E9AF0A19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93D0-E4D4-4F9B-9E6B-51B36728FB2A}" type="datetimeFigureOut">
              <a:rPr lang="pt-BR" smtClean="0"/>
              <a:t>28/06/2026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9C8CB52-7C39-62CB-0E3A-46F148C5D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961CE7B-28F8-BB35-E416-BFEE1905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D357-2EEE-452F-BEE6-D1333264C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6125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4F885F-E36F-D4D6-6380-3F7BEF8F6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2094315-C5FF-012F-AD8A-D80BB50F0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93D0-E4D4-4F9B-9E6B-51B36728FB2A}" type="datetimeFigureOut">
              <a:rPr lang="pt-BR" smtClean="0"/>
              <a:t>28/06/2026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563A89E-414A-DB36-A699-0FFB40217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6B670C0-08C7-FD27-0353-5F8145B39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D357-2EEE-452F-BEE6-D1333264C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396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2DE947B-0973-5EA9-3155-000215401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93D0-E4D4-4F9B-9E6B-51B36728FB2A}" type="datetimeFigureOut">
              <a:rPr lang="pt-BR" smtClean="0"/>
              <a:t>28/06/2026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6E12693-A9FA-CAA3-206B-DD7E989CD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E17B07-FEDA-16DB-C73F-6F1493A6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D357-2EEE-452F-BEE6-D1333264C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486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56EFE-47B6-06A5-B65A-B71D89EE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F1B6D6-96D1-2BE9-9A29-F2332DA3A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848016-668B-DA53-CCF6-E6B3E18A5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6A832B-D31D-D4AF-E62F-ECF0E43D1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93D0-E4D4-4F9B-9E6B-51B36728FB2A}" type="datetimeFigureOut">
              <a:rPr lang="pt-BR" smtClean="0"/>
              <a:t>28/06/2026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C181FD-77FB-04EB-476E-69659B325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2C42B2-29FA-663C-D415-B8A26D7E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D357-2EEE-452F-BEE6-D1333264C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879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582C02-288E-A13E-EC64-87621CB01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337AB29-ACCE-6F8D-2269-5228140FF6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9F4CEE-77A2-DD4F-5BD2-D69052497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1E2748-6C2C-7F3F-8938-96F3B196C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93D0-E4D4-4F9B-9E6B-51B36728FB2A}" type="datetimeFigureOut">
              <a:rPr lang="pt-BR" smtClean="0"/>
              <a:t>28/06/2026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3B6061-7EEA-C982-EB85-5DC069546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F2F8CF-2ABF-A9FA-BE32-46901AB53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D357-2EEE-452F-BEE6-D1333264C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8564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1C308-A1CC-E914-796A-AA196F484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0B83993-7759-7D3E-18A3-42CB20CD1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FEAA06-9079-17C3-BDDE-251D637B3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93D0-E4D4-4F9B-9E6B-51B36728FB2A}" type="datetimeFigureOut">
              <a:rPr lang="pt-BR" smtClean="0"/>
              <a:t>28/06/2026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13A2EA-56C8-6867-DC86-B2BCBD0A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5F4BDF-0F5D-F2D3-CC27-8473C9F1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D357-2EEE-452F-BEE6-D1333264C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2517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F62EDC-5A97-6360-BF2D-18400EC271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2504AF4-F1C6-F950-26D8-81ACB0D44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BECABE-4D4D-148C-1FD0-57125EA3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93D0-E4D4-4F9B-9E6B-51B36728FB2A}" type="datetimeFigureOut">
              <a:rPr lang="pt-BR" smtClean="0"/>
              <a:t>28/06/2026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CCAF9F-5B32-6A83-3EF6-4244D5334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04BB73-1F5F-15E1-CFE1-C6992BA2F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D357-2EEE-452F-BEE6-D1333264C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5612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267DEFB-8126-4C33-97D6-62A444E20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951541-C72E-AB67-FF55-A079655E6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F9283A-48F1-896B-5E9A-ABC579AB23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7393D0-E4D4-4F9B-9E6B-51B36728FB2A}" type="datetimeFigureOut">
              <a:rPr lang="pt-BR" smtClean="0"/>
              <a:t>28/06/2026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7FBF9D-32A9-76C6-BD28-AC977F6950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A78CBC-6BD7-AEA0-6F82-289398D8D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5ED357-2EEE-452F-BEE6-D1333264C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363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CC38C90-7E10-A54E-228A-C3AD2A7BE392}"/>
              </a:ext>
            </a:extLst>
          </p:cNvPr>
          <p:cNvSpPr txBox="1">
            <a:spLocks/>
          </p:cNvSpPr>
          <p:nvPr/>
        </p:nvSpPr>
        <p:spPr>
          <a:xfrm>
            <a:off x="0" y="30881"/>
            <a:ext cx="12192000" cy="774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Correções de Vocacionais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5DC4AC9-77EA-8F31-0E79-1741E210693A}"/>
              </a:ext>
            </a:extLst>
          </p:cNvPr>
          <p:cNvSpPr txBox="1"/>
          <p:nvPr/>
        </p:nvSpPr>
        <p:spPr>
          <a:xfrm>
            <a:off x="186446" y="805007"/>
            <a:ext cx="1162455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Montserrat" pitchFamily="2" charset="0"/>
              </a:rPr>
              <a:t>Verificar se o estudo segue a seguinte estrutura</a:t>
            </a:r>
          </a:p>
          <a:p>
            <a:pPr marL="342900" indent="-342900">
              <a:buFont typeface="+mj-lt"/>
              <a:buAutoNum type="arabicPeriod"/>
            </a:pPr>
            <a:endParaRPr lang="pt-BR" sz="1400" dirty="0">
              <a:latin typeface="Montserrat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pt-BR" sz="1400" b="1" dirty="0">
                <a:latin typeface="Montserrat" pitchFamily="2" charset="0"/>
              </a:rPr>
              <a:t>Identificação do terreno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1.1) Endereço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1.2) Latitude/Longitude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1.3) Área do terreno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1.4) Acessos ao terreno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1.5) Entorno do terreno (Pontos de Varejo e Serviços)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1.6) Entorno do terreno (revendas)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1.7) Entorno do terreno (mapeamento físico)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1.9) Entorno do terreno (distância até o centro da cidade do estudo)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1400" b="1" dirty="0" err="1">
                <a:latin typeface="Montserrat" pitchFamily="2" charset="0"/>
              </a:rPr>
              <a:t>Sociodemografia</a:t>
            </a:r>
            <a:endParaRPr lang="pt-BR" sz="1400" b="1" dirty="0">
              <a:latin typeface="Montserrat" pitchFamily="2" charset="0"/>
            </a:endParaRPr>
          </a:p>
          <a:p>
            <a:pPr lvl="2"/>
            <a:r>
              <a:rPr lang="pt-BR" sz="1400" dirty="0">
                <a:latin typeface="Montserrat" pitchFamily="2" charset="0"/>
              </a:rPr>
              <a:t>2.1) Dados da </a:t>
            </a:r>
            <a:r>
              <a:rPr lang="pt-BR" sz="1400" b="1" dirty="0">
                <a:latin typeface="Montserrat" pitchFamily="2" charset="0"/>
              </a:rPr>
              <a:t>Cidade do estudo | Estado | Brasil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2.2) Variação anual da população (2027 a 2032) (6 anos)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2.3) Variação anual dos domicílios (2027 a 2032) (6 anos)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2.4) População por faixa de renda</a:t>
            </a:r>
          </a:p>
          <a:p>
            <a:pPr lvl="3"/>
            <a:r>
              <a:rPr lang="pt-BR" sz="1400" dirty="0">
                <a:latin typeface="Montserrat" pitchFamily="2" charset="0"/>
              </a:rPr>
              <a:t>2.4.1) Mapa densidade demográfica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2.5) Domicílios por faixa de renda</a:t>
            </a:r>
          </a:p>
          <a:p>
            <a:pPr lvl="3"/>
            <a:r>
              <a:rPr lang="pt-BR" sz="1400" dirty="0">
                <a:latin typeface="Montserrat" pitchFamily="2" charset="0"/>
              </a:rPr>
              <a:t>2.5.1) Mapa Renda domiciliar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2.6) Domicílios por número de moradores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2.7) Domicílios por tipo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         2.7.1) Mapa com Índice de Verticalização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2.8) Domicílios por condição de ocupação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          2.8.1) Mapa Índice de Propriedade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1400" b="1" dirty="0">
                <a:latin typeface="Montserrat" pitchFamily="2" charset="0"/>
              </a:rPr>
              <a:t>Projeção de absorção de domicílios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3.1) Absorção de domicílios da </a:t>
            </a:r>
            <a:r>
              <a:rPr lang="pt-BR" sz="1400" b="1" dirty="0">
                <a:latin typeface="Montserrat" pitchFamily="2" charset="0"/>
              </a:rPr>
              <a:t>zona de influência total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        3.1.1) cenários de absorção de lançamentos da </a:t>
            </a:r>
            <a:r>
              <a:rPr lang="pt-BR" sz="1400" b="1" dirty="0">
                <a:latin typeface="Montserrat" pitchFamily="2" charset="0"/>
              </a:rPr>
              <a:t>zona de influência total</a:t>
            </a:r>
            <a:endParaRPr lang="pt-BR" sz="1400" dirty="0">
              <a:latin typeface="Montserrat" pitchFamily="2" charset="0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CB563AA-A755-CA74-A681-2E0A1317CEE0}"/>
              </a:ext>
            </a:extLst>
          </p:cNvPr>
          <p:cNvSpPr/>
          <p:nvPr/>
        </p:nvSpPr>
        <p:spPr>
          <a:xfrm>
            <a:off x="583659" y="1225685"/>
            <a:ext cx="9708204" cy="196498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52E938E-5665-1A1E-8490-5C976A83813D}"/>
              </a:ext>
            </a:extLst>
          </p:cNvPr>
          <p:cNvSpPr/>
          <p:nvPr/>
        </p:nvSpPr>
        <p:spPr>
          <a:xfrm>
            <a:off x="8686800" y="1225685"/>
            <a:ext cx="3388468" cy="1964987"/>
          </a:xfrm>
          <a:prstGeom prst="round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C00000"/>
                </a:solidFill>
                <a:latin typeface="Montserrat" pitchFamily="2" charset="0"/>
              </a:rPr>
              <a:t>Essa primeira seção é composta mais por imagens, do que textos, então neste caso, á mais verificar se todos os tópicos foram incluídos no estudo.</a:t>
            </a:r>
          </a:p>
          <a:p>
            <a:pPr algn="ctr"/>
            <a:r>
              <a:rPr lang="pt-BR" sz="1400" b="1" dirty="0">
                <a:solidFill>
                  <a:srgbClr val="C00000"/>
                </a:solidFill>
                <a:latin typeface="Montserrat" pitchFamily="2" charset="0"/>
              </a:rPr>
              <a:t>É muito comum não vir o entorno com as revendas e nem o mapeamento físico</a:t>
            </a:r>
          </a:p>
        </p:txBody>
      </p:sp>
    </p:spTree>
    <p:extLst>
      <p:ext uri="{BB962C8B-B14F-4D97-AF65-F5344CB8AC3E}">
        <p14:creationId xmlns:p14="http://schemas.microsoft.com/office/powerpoint/2010/main" val="3313361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3AD5D-F89F-F2CE-5016-78E63A24D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3C4573D-EF86-D045-4F1D-997F53900714}"/>
              </a:ext>
            </a:extLst>
          </p:cNvPr>
          <p:cNvSpPr txBox="1">
            <a:spLocks/>
          </p:cNvSpPr>
          <p:nvPr/>
        </p:nvSpPr>
        <p:spPr>
          <a:xfrm>
            <a:off x="0" y="30881"/>
            <a:ext cx="12192000" cy="774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Correções de Vocacionais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E0498B2-FF4E-C478-5A0C-D21BB5E4575E}"/>
              </a:ext>
            </a:extLst>
          </p:cNvPr>
          <p:cNvSpPr txBox="1"/>
          <p:nvPr/>
        </p:nvSpPr>
        <p:spPr>
          <a:xfrm>
            <a:off x="186446" y="805007"/>
            <a:ext cx="1162455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+mj-lt"/>
              <a:buAutoNum type="arabicPeriod" startAt="4"/>
            </a:pPr>
            <a:r>
              <a:rPr lang="pt-BR" sz="1400" b="1" dirty="0">
                <a:latin typeface="Montserrat" pitchFamily="2" charset="0"/>
              </a:rPr>
              <a:t>Análise do mercado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4.1) Mapa com a </a:t>
            </a:r>
            <a:r>
              <a:rPr lang="pt-BR" sz="1400" b="1" dirty="0">
                <a:latin typeface="Montserrat" pitchFamily="2" charset="0"/>
              </a:rPr>
              <a:t>Localização dos empreendimentos</a:t>
            </a:r>
            <a:r>
              <a:rPr lang="pt-BR" sz="1400" dirty="0">
                <a:latin typeface="Montserrat" pitchFamily="2" charset="0"/>
              </a:rPr>
              <a:t> (Z.I primária)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4.2) Mapa com os empreendimentos da Z.I primária (agrupados </a:t>
            </a:r>
            <a:r>
              <a:rPr lang="pt-BR" sz="1400" b="1" dirty="0">
                <a:latin typeface="Montserrat" pitchFamily="2" charset="0"/>
              </a:rPr>
              <a:t>por média R$/m²</a:t>
            </a:r>
            <a:r>
              <a:rPr lang="pt-BR" sz="1400" dirty="0">
                <a:latin typeface="Montserrat" pitchFamily="2" charset="0"/>
              </a:rPr>
              <a:t>) 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4.3) Mapa com os empreendimentos da Z.I primária (agrupados </a:t>
            </a:r>
            <a:r>
              <a:rPr lang="pt-BR" sz="1400" b="1" dirty="0">
                <a:latin typeface="Montserrat" pitchFamily="2" charset="0"/>
              </a:rPr>
              <a:t>estoque</a:t>
            </a:r>
            <a:r>
              <a:rPr lang="pt-BR" sz="1400" dirty="0">
                <a:latin typeface="Montserrat" pitchFamily="2" charset="0"/>
              </a:rPr>
              <a:t>) 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4.4) Mapa com os empreendimentos da Z.I primária (agrupados </a:t>
            </a:r>
            <a:r>
              <a:rPr lang="pt-BR" sz="1400" b="1" dirty="0">
                <a:latin typeface="Montserrat" pitchFamily="2" charset="0"/>
              </a:rPr>
              <a:t>área média</a:t>
            </a:r>
            <a:r>
              <a:rPr lang="pt-BR" sz="1400" dirty="0">
                <a:latin typeface="Montserrat" pitchFamily="2" charset="0"/>
              </a:rPr>
              <a:t>)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4.5) Consolidada dos empreendimentos da Z.I primária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4.6) Oferta lançada e oferta atual </a:t>
            </a:r>
            <a:r>
              <a:rPr lang="pt-BR" sz="1400" b="1" dirty="0">
                <a:latin typeface="Montserrat" pitchFamily="2" charset="0"/>
              </a:rPr>
              <a:t>por padrão</a:t>
            </a:r>
            <a:endParaRPr lang="pt-BR" sz="1400" dirty="0">
              <a:latin typeface="Montserrat" pitchFamily="2" charset="0"/>
            </a:endParaRPr>
          </a:p>
          <a:p>
            <a:pPr lvl="2"/>
            <a:r>
              <a:rPr lang="pt-BR" sz="1400" dirty="0">
                <a:latin typeface="Montserrat" pitchFamily="2" charset="0"/>
              </a:rPr>
              <a:t>4.7) Oferta lançada e oferta atual </a:t>
            </a:r>
            <a:r>
              <a:rPr lang="pt-BR" sz="1400" b="1" dirty="0">
                <a:latin typeface="Montserrat" pitchFamily="2" charset="0"/>
              </a:rPr>
              <a:t>por ano de lançamento</a:t>
            </a:r>
            <a:endParaRPr lang="pt-BR" sz="1400" dirty="0">
              <a:latin typeface="Montserrat" pitchFamily="2" charset="0"/>
            </a:endParaRPr>
          </a:p>
          <a:p>
            <a:pPr lvl="2"/>
            <a:r>
              <a:rPr lang="pt-BR" sz="1400" dirty="0">
                <a:latin typeface="Montserrat" pitchFamily="2" charset="0"/>
              </a:rPr>
              <a:t>4.8) Oferta lançada e oferta atual </a:t>
            </a:r>
            <a:r>
              <a:rPr lang="pt-BR" sz="1400" b="1" dirty="0">
                <a:latin typeface="Montserrat" pitchFamily="2" charset="0"/>
              </a:rPr>
              <a:t>por tipologia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4.9) Análise de preços </a:t>
            </a:r>
            <a:r>
              <a:rPr lang="pt-BR" sz="1400" b="1" dirty="0">
                <a:latin typeface="Montserrat" pitchFamily="2" charset="0"/>
              </a:rPr>
              <a:t>por tipologia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4.10) Análise de preços </a:t>
            </a:r>
            <a:r>
              <a:rPr lang="pt-BR" sz="1400" b="1" dirty="0">
                <a:latin typeface="Montserrat" pitchFamily="2" charset="0"/>
              </a:rPr>
              <a:t>por padrão</a:t>
            </a:r>
            <a:endParaRPr lang="pt-BR" sz="1400" dirty="0">
              <a:latin typeface="Montserrat" pitchFamily="2" charset="0"/>
            </a:endParaRPr>
          </a:p>
          <a:p>
            <a:pPr marL="800100" lvl="1" indent="-342900">
              <a:buFont typeface="+mj-lt"/>
              <a:buAutoNum type="arabicPeriod" startAt="4"/>
            </a:pPr>
            <a:r>
              <a:rPr lang="pt-BR" sz="1400" b="1" dirty="0">
                <a:latin typeface="Montserrat" pitchFamily="2" charset="0"/>
              </a:rPr>
              <a:t>Tabelas de lacunas de mercado </a:t>
            </a:r>
            <a:r>
              <a:rPr lang="pt-BR" sz="1400" dirty="0">
                <a:latin typeface="Montserrat" pitchFamily="2" charset="0"/>
              </a:rPr>
              <a:t>(Z.I total)</a:t>
            </a:r>
            <a:endParaRPr lang="pt-BR" sz="1400" b="1" dirty="0">
              <a:latin typeface="Montserrat" pitchFamily="2" charset="0"/>
            </a:endParaRPr>
          </a:p>
          <a:p>
            <a:pPr lvl="2"/>
            <a:r>
              <a:rPr lang="pt-BR" sz="1400" dirty="0">
                <a:latin typeface="Montserrat" pitchFamily="2" charset="0"/>
              </a:rPr>
              <a:t>5.1) Lacunas de mercado | </a:t>
            </a:r>
            <a:r>
              <a:rPr lang="pt-BR" sz="1400" b="1" dirty="0">
                <a:latin typeface="Montserrat" pitchFamily="2" charset="0"/>
              </a:rPr>
              <a:t>tipologia </a:t>
            </a:r>
            <a:r>
              <a:rPr lang="pt-BR" sz="1400" b="1" dirty="0" err="1">
                <a:latin typeface="Montserrat" pitchFamily="2" charset="0"/>
              </a:rPr>
              <a:t>vs</a:t>
            </a:r>
            <a:r>
              <a:rPr lang="pt-BR" sz="1400" b="1" dirty="0">
                <a:latin typeface="Montserrat" pitchFamily="2" charset="0"/>
              </a:rPr>
              <a:t> metragem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5.2) Lacunas de mercado | </a:t>
            </a:r>
            <a:r>
              <a:rPr lang="pt-BR" sz="1400" b="1" dirty="0">
                <a:latin typeface="Montserrat" pitchFamily="2" charset="0"/>
              </a:rPr>
              <a:t>tipologia </a:t>
            </a:r>
            <a:r>
              <a:rPr lang="pt-BR" sz="1400" b="1" dirty="0" err="1">
                <a:latin typeface="Montserrat" pitchFamily="2" charset="0"/>
              </a:rPr>
              <a:t>vs</a:t>
            </a:r>
            <a:r>
              <a:rPr lang="pt-BR" sz="1400" b="1" dirty="0">
                <a:latin typeface="Montserrat" pitchFamily="2" charset="0"/>
              </a:rPr>
              <a:t> preço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5.3) Lacunas de mercado | </a:t>
            </a:r>
            <a:r>
              <a:rPr lang="pt-BR" sz="1400" b="1" dirty="0">
                <a:latin typeface="Montserrat" pitchFamily="2" charset="0"/>
              </a:rPr>
              <a:t>preço </a:t>
            </a:r>
            <a:r>
              <a:rPr lang="pt-BR" sz="1400" b="1" dirty="0" err="1">
                <a:latin typeface="Montserrat" pitchFamily="2" charset="0"/>
              </a:rPr>
              <a:t>vs</a:t>
            </a:r>
            <a:r>
              <a:rPr lang="pt-BR" sz="1400" b="1" dirty="0">
                <a:latin typeface="Montserrat" pitchFamily="2" charset="0"/>
              </a:rPr>
              <a:t> metragem</a:t>
            </a:r>
            <a:endParaRPr lang="pt-BR" sz="1400" dirty="0">
              <a:latin typeface="Montserrat" pitchFamily="2" charset="0"/>
            </a:endParaRPr>
          </a:p>
          <a:p>
            <a:pPr marL="800100" lvl="1" indent="-342900">
              <a:buFont typeface="+mj-lt"/>
              <a:buAutoNum type="arabicPeriod" startAt="4"/>
            </a:pPr>
            <a:r>
              <a:rPr lang="pt-BR" sz="1400" b="1" dirty="0">
                <a:latin typeface="Montserrat" pitchFamily="2" charset="0"/>
              </a:rPr>
              <a:t>Fichas técnicas</a:t>
            </a:r>
          </a:p>
          <a:p>
            <a:pPr marL="800100" lvl="1" indent="-342900">
              <a:buFont typeface="+mj-lt"/>
              <a:buAutoNum type="arabicPeriod" startAt="4"/>
            </a:pPr>
            <a:r>
              <a:rPr lang="pt-BR" sz="1400" b="1" dirty="0">
                <a:latin typeface="Montserrat" pitchFamily="2" charset="0"/>
              </a:rPr>
              <a:t>Futuros lançamentos</a:t>
            </a:r>
          </a:p>
          <a:p>
            <a:pPr lvl="1"/>
            <a:r>
              <a:rPr lang="pt-BR" sz="1400" dirty="0">
                <a:latin typeface="Montserrat" pitchFamily="2" charset="0"/>
              </a:rPr>
              <a:t>	7.1) Mapa com os futuros lançamentos</a:t>
            </a:r>
          </a:p>
          <a:p>
            <a:pPr marL="800100" lvl="1" indent="-342900">
              <a:buFont typeface="+mj-lt"/>
              <a:buAutoNum type="arabicPeriod" startAt="8"/>
            </a:pPr>
            <a:r>
              <a:rPr lang="pt-BR" sz="1400" b="1" dirty="0">
                <a:latin typeface="Montserrat" pitchFamily="2" charset="0"/>
              </a:rPr>
              <a:t>Análise de revenda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8.1) Mapa de revenda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8.2) Revenda </a:t>
            </a:r>
            <a:r>
              <a:rPr lang="pt-BR" sz="1400" b="1" dirty="0">
                <a:latin typeface="Montserrat" pitchFamily="2" charset="0"/>
              </a:rPr>
              <a:t>por bairro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8.3) Revenda </a:t>
            </a:r>
            <a:r>
              <a:rPr lang="pt-BR" sz="1400" b="1" dirty="0">
                <a:latin typeface="Montserrat" pitchFamily="2" charset="0"/>
              </a:rPr>
              <a:t>por tipologia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8.4) Revenda | Análise por </a:t>
            </a:r>
            <a:r>
              <a:rPr lang="pt-BR" sz="1400" b="1" dirty="0">
                <a:latin typeface="Montserrat" pitchFamily="2" charset="0"/>
              </a:rPr>
              <a:t>ticket, metragem e preço</a:t>
            </a:r>
            <a:endParaRPr lang="pt-BR" sz="1400" dirty="0">
              <a:latin typeface="Montserrat" pitchFamily="2" charset="0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5F07A9C-8A04-3773-F325-F92E346F9487}"/>
              </a:ext>
            </a:extLst>
          </p:cNvPr>
          <p:cNvSpPr/>
          <p:nvPr/>
        </p:nvSpPr>
        <p:spPr>
          <a:xfrm>
            <a:off x="583659" y="1050587"/>
            <a:ext cx="9708204" cy="214008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B3D40A1-EAC2-07C2-A01D-BE97F108A728}"/>
              </a:ext>
            </a:extLst>
          </p:cNvPr>
          <p:cNvSpPr/>
          <p:nvPr/>
        </p:nvSpPr>
        <p:spPr>
          <a:xfrm>
            <a:off x="8686800" y="1050587"/>
            <a:ext cx="3388468" cy="2140085"/>
          </a:xfrm>
          <a:prstGeom prst="round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C00000"/>
                </a:solidFill>
                <a:latin typeface="Montserrat" pitchFamily="2" charset="0"/>
              </a:rPr>
              <a:t>Se houver mais </a:t>
            </a:r>
            <a:r>
              <a:rPr lang="pt-BR" sz="1400" dirty="0" err="1">
                <a:solidFill>
                  <a:srgbClr val="C00000"/>
                </a:solidFill>
                <a:latin typeface="Montserrat" pitchFamily="2" charset="0"/>
              </a:rPr>
              <a:t>Z.Is</a:t>
            </a:r>
            <a:r>
              <a:rPr lang="pt-BR" sz="1400" dirty="0">
                <a:solidFill>
                  <a:srgbClr val="C00000"/>
                </a:solidFill>
                <a:latin typeface="Montserrat" pitchFamily="2" charset="0"/>
              </a:rPr>
              <a:t> no estudo, essas análises devem se repetir para cada uma das </a:t>
            </a:r>
            <a:r>
              <a:rPr lang="pt-BR" sz="1400" dirty="0" err="1">
                <a:solidFill>
                  <a:srgbClr val="C00000"/>
                </a:solidFill>
                <a:latin typeface="Montserrat" pitchFamily="2" charset="0"/>
              </a:rPr>
              <a:t>Z.Is</a:t>
            </a:r>
            <a:endParaRPr lang="pt-BR" sz="1400" dirty="0">
              <a:solidFill>
                <a:srgbClr val="C00000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552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F1020-28B5-D8AD-A153-F86BA585E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A8D227E-ABC2-8A31-CC04-AB2F10E6C9A0}"/>
              </a:ext>
            </a:extLst>
          </p:cNvPr>
          <p:cNvSpPr txBox="1">
            <a:spLocks/>
          </p:cNvSpPr>
          <p:nvPr/>
        </p:nvSpPr>
        <p:spPr>
          <a:xfrm>
            <a:off x="0" y="30881"/>
            <a:ext cx="12192000" cy="774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Sociodemografia</a:t>
            </a:r>
            <a:endParaRPr lang="pt-BR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9078BF6-74A5-318C-3FEA-A7376C94CB69}"/>
              </a:ext>
            </a:extLst>
          </p:cNvPr>
          <p:cNvSpPr txBox="1"/>
          <p:nvPr/>
        </p:nvSpPr>
        <p:spPr>
          <a:xfrm>
            <a:off x="186446" y="805007"/>
            <a:ext cx="605871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0212" lvl="1" indent="-342900">
              <a:buFont typeface="+mj-lt"/>
              <a:buAutoNum type="arabicPeriod" startAt="2"/>
            </a:pPr>
            <a:r>
              <a:rPr lang="pt-BR" sz="1400" b="1" dirty="0" err="1">
                <a:latin typeface="Montserrat" pitchFamily="2" charset="0"/>
              </a:rPr>
              <a:t>Sociodemografia</a:t>
            </a:r>
            <a:endParaRPr lang="pt-BR" sz="1400" b="1" dirty="0">
              <a:latin typeface="Montserrat" pitchFamily="2" charset="0"/>
            </a:endParaRPr>
          </a:p>
          <a:p>
            <a:pPr marL="631825" lvl="3" indent="-87313"/>
            <a:r>
              <a:rPr lang="pt-BR" sz="1400" dirty="0">
                <a:latin typeface="Montserrat" pitchFamily="2" charset="0"/>
              </a:rPr>
              <a:t>2.1) Dados da </a:t>
            </a:r>
            <a:r>
              <a:rPr lang="pt-BR" sz="1400" b="1" dirty="0">
                <a:latin typeface="Montserrat" pitchFamily="2" charset="0"/>
              </a:rPr>
              <a:t>Cidade do estudo | Estado | Brasil</a:t>
            </a:r>
          </a:p>
          <a:p>
            <a:pPr marL="631825" lvl="3" indent="-87313"/>
            <a:r>
              <a:rPr lang="pt-BR" sz="1400" dirty="0">
                <a:latin typeface="Montserrat" pitchFamily="2" charset="0"/>
              </a:rPr>
              <a:t>2.2) Variação anual da população (2027 a 2032) (6 anos)</a:t>
            </a:r>
          </a:p>
          <a:p>
            <a:pPr marL="631825" lvl="3" indent="-87313"/>
            <a:r>
              <a:rPr lang="pt-BR" sz="1400" dirty="0">
                <a:latin typeface="Montserrat" pitchFamily="2" charset="0"/>
              </a:rPr>
              <a:t>2.3) Variação anual dos domicílios (2027 a 2032) (6 anos)</a:t>
            </a:r>
          </a:p>
          <a:p>
            <a:pPr marL="631825" lvl="3" indent="-87313"/>
            <a:endParaRPr lang="pt-BR" sz="1400" dirty="0">
              <a:latin typeface="Montserrat" pitchFamily="2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0C86536-4016-2EAE-A939-3D3E58E4F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199" y="2028955"/>
            <a:ext cx="6877456" cy="4402857"/>
          </a:xfrm>
          <a:prstGeom prst="rect">
            <a:avLst/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2A2A866-00F1-DBE5-330E-49CF45EC636E}"/>
              </a:ext>
            </a:extLst>
          </p:cNvPr>
          <p:cNvSpPr/>
          <p:nvPr/>
        </p:nvSpPr>
        <p:spPr>
          <a:xfrm>
            <a:off x="6350537" y="2924057"/>
            <a:ext cx="1595337" cy="35992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6D05D757-B4AE-2366-59AF-767B01E650DF}"/>
              </a:ext>
            </a:extLst>
          </p:cNvPr>
          <p:cNvSpPr/>
          <p:nvPr/>
        </p:nvSpPr>
        <p:spPr>
          <a:xfrm>
            <a:off x="7945874" y="2654009"/>
            <a:ext cx="2399490" cy="914400"/>
          </a:xfrm>
          <a:prstGeom prst="leftArrow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C00000"/>
                </a:solidFill>
                <a:latin typeface="Montserrat" pitchFamily="2" charset="0"/>
              </a:rPr>
              <a:t>Cidade e Estado precisa validar se é o do estudo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03C0612-6823-5786-6A10-8A6D3AA1D5C8}"/>
              </a:ext>
            </a:extLst>
          </p:cNvPr>
          <p:cNvSpPr/>
          <p:nvPr/>
        </p:nvSpPr>
        <p:spPr>
          <a:xfrm>
            <a:off x="2164401" y="6123603"/>
            <a:ext cx="2046053" cy="35992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64384F4-FFCA-F4F5-BCAC-DAF22B28E459}"/>
              </a:ext>
            </a:extLst>
          </p:cNvPr>
          <p:cNvSpPr/>
          <p:nvPr/>
        </p:nvSpPr>
        <p:spPr>
          <a:xfrm>
            <a:off x="2851822" y="3703469"/>
            <a:ext cx="1595337" cy="35992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4AA5BE3-7F4B-45CC-75CF-9E6B67B5860B}"/>
              </a:ext>
            </a:extLst>
          </p:cNvPr>
          <p:cNvSpPr/>
          <p:nvPr/>
        </p:nvSpPr>
        <p:spPr>
          <a:xfrm>
            <a:off x="2761031" y="2646818"/>
            <a:ext cx="1595337" cy="35992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: para a Esquerda 14">
            <a:extLst>
              <a:ext uri="{FF2B5EF4-FFF2-40B4-BE49-F238E27FC236}">
                <a16:creationId xmlns:a16="http://schemas.microsoft.com/office/drawing/2014/main" id="{6004F2D3-3122-98B7-0088-EF380A1832E2}"/>
              </a:ext>
            </a:extLst>
          </p:cNvPr>
          <p:cNvSpPr/>
          <p:nvPr/>
        </p:nvSpPr>
        <p:spPr>
          <a:xfrm>
            <a:off x="4356367" y="5865776"/>
            <a:ext cx="5671232" cy="914400"/>
          </a:xfrm>
          <a:prstGeom prst="leftArrow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C00000"/>
                </a:solidFill>
                <a:latin typeface="Montserrat" pitchFamily="2" charset="0"/>
              </a:rPr>
              <a:t>Precisa ser indicado no slide a fonte e elaboração (em todos as análises da </a:t>
            </a:r>
            <a:r>
              <a:rPr lang="pt-BR" sz="1200" dirty="0" err="1">
                <a:solidFill>
                  <a:srgbClr val="C00000"/>
                </a:solidFill>
                <a:latin typeface="Montserrat" pitchFamily="2" charset="0"/>
              </a:rPr>
              <a:t>sociodemografia</a:t>
            </a:r>
            <a:r>
              <a:rPr lang="pt-BR" sz="1200" dirty="0">
                <a:solidFill>
                  <a:srgbClr val="C00000"/>
                </a:solidFill>
                <a:latin typeface="Montserrat" pitchFamily="2" charset="0"/>
              </a:rPr>
              <a:t>)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9B41C16-848F-5DE0-B491-83BF62A7E3A4}"/>
              </a:ext>
            </a:extLst>
          </p:cNvPr>
          <p:cNvSpPr/>
          <p:nvPr/>
        </p:nvSpPr>
        <p:spPr>
          <a:xfrm>
            <a:off x="5552868" y="3201295"/>
            <a:ext cx="846309" cy="166829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: para a Esquerda 19">
            <a:extLst>
              <a:ext uri="{FF2B5EF4-FFF2-40B4-BE49-F238E27FC236}">
                <a16:creationId xmlns:a16="http://schemas.microsoft.com/office/drawing/2014/main" id="{76C47DB0-3912-6F91-1E3D-66AADE4672F4}"/>
              </a:ext>
            </a:extLst>
          </p:cNvPr>
          <p:cNvSpPr/>
          <p:nvPr/>
        </p:nvSpPr>
        <p:spPr>
          <a:xfrm>
            <a:off x="6250020" y="3619079"/>
            <a:ext cx="2660516" cy="914400"/>
          </a:xfrm>
          <a:prstGeom prst="leftArrow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C00000"/>
                </a:solidFill>
                <a:latin typeface="Montserrat" pitchFamily="2" charset="0"/>
              </a:rPr>
              <a:t>Aqui a projeção precisa ser de 6 anos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A969406-37FD-FAFF-7909-BA2A8CE19EF2}"/>
              </a:ext>
            </a:extLst>
          </p:cNvPr>
          <p:cNvSpPr/>
          <p:nvPr/>
        </p:nvSpPr>
        <p:spPr>
          <a:xfrm>
            <a:off x="8857035" y="281485"/>
            <a:ext cx="3054485" cy="1950900"/>
          </a:xfrm>
          <a:prstGeom prst="round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C00000"/>
                </a:solidFill>
                <a:latin typeface="Montserrat" pitchFamily="2" charset="0"/>
              </a:rPr>
              <a:t>Não se se a I.A consegue conferir se a projeção está correta, se for possível programa-la para isso, me avise que passo a fórmula certinho. </a:t>
            </a:r>
            <a:r>
              <a:rPr lang="pt-BR" sz="1400" dirty="0">
                <a:solidFill>
                  <a:srgbClr val="C00000"/>
                </a:solidFill>
                <a:latin typeface="Montserrat" pitchFamily="2" charset="0"/>
                <a:sym typeface="Wingdings" panose="05000000000000000000" pitchFamily="2" charset="2"/>
              </a:rPr>
              <a:t></a:t>
            </a:r>
            <a:endParaRPr lang="pt-BR" sz="1400" dirty="0">
              <a:solidFill>
                <a:srgbClr val="C00000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801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3520A-0961-2A2C-56EB-71A378E05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972045B-30F3-6F88-169C-C20AB65F95F5}"/>
              </a:ext>
            </a:extLst>
          </p:cNvPr>
          <p:cNvSpPr txBox="1">
            <a:spLocks/>
          </p:cNvSpPr>
          <p:nvPr/>
        </p:nvSpPr>
        <p:spPr>
          <a:xfrm>
            <a:off x="0" y="30881"/>
            <a:ext cx="12192000" cy="774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Sociodemografia</a:t>
            </a:r>
            <a:endParaRPr lang="pt-BR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FBBA74F-FE12-848D-F3BD-36D69A02E279}"/>
              </a:ext>
            </a:extLst>
          </p:cNvPr>
          <p:cNvSpPr txBox="1"/>
          <p:nvPr/>
        </p:nvSpPr>
        <p:spPr>
          <a:xfrm>
            <a:off x="186446" y="805007"/>
            <a:ext cx="605871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0212" lvl="1" indent="-342900">
              <a:buFont typeface="+mj-lt"/>
              <a:buAutoNum type="arabicPeriod" startAt="2"/>
            </a:pPr>
            <a:r>
              <a:rPr lang="pt-BR" sz="1400" b="1" dirty="0" err="1">
                <a:latin typeface="Montserrat" pitchFamily="2" charset="0"/>
              </a:rPr>
              <a:t>Sociodemografia</a:t>
            </a:r>
            <a:endParaRPr lang="pt-BR" sz="1400" b="1" dirty="0">
              <a:latin typeface="Montserrat" pitchFamily="2" charset="0"/>
            </a:endParaRPr>
          </a:p>
          <a:p>
            <a:pPr lvl="2"/>
            <a:r>
              <a:rPr lang="pt-BR" sz="1400" dirty="0">
                <a:latin typeface="Montserrat" pitchFamily="2" charset="0"/>
              </a:rPr>
              <a:t>2.4) População por faixa de renda</a:t>
            </a:r>
          </a:p>
          <a:p>
            <a:pPr lvl="3"/>
            <a:r>
              <a:rPr lang="pt-BR" sz="1400" dirty="0">
                <a:latin typeface="Montserrat" pitchFamily="2" charset="0"/>
              </a:rPr>
              <a:t>2.4.1) Mapa densidade demográfica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2.5) Domicílios por faixa de renda</a:t>
            </a:r>
          </a:p>
          <a:p>
            <a:pPr lvl="3"/>
            <a:r>
              <a:rPr lang="pt-BR" sz="1400" dirty="0">
                <a:latin typeface="Montserrat" pitchFamily="2" charset="0"/>
              </a:rPr>
              <a:t>2.5.1) Mapa Renda domiciliar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2.6) Domicílios por número de moradores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2.7) Domicílios por tipo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         2.7.1) Mapa com Índice de Verticalização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2.8) Domicílios por condição de ocupação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          2.8.1) Mapa Índice de Propriedade</a:t>
            </a:r>
          </a:p>
          <a:p>
            <a:pPr marL="631825" lvl="3" indent="-87313"/>
            <a:endParaRPr lang="pt-BR" sz="1400" dirty="0">
              <a:latin typeface="Montserrat" pitchFamily="2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7CA7180-0B54-9C2C-263C-3EDCF3411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18" y="3089270"/>
            <a:ext cx="5628606" cy="360336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4CD077A-22D9-5200-1829-1FF2D21E7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291" y="3267220"/>
            <a:ext cx="5323541" cy="3038388"/>
          </a:xfrm>
          <a:prstGeom prst="rect">
            <a:avLst/>
          </a:prstGeom>
        </p:spPr>
      </p:pic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6A44690-4599-0358-2951-43A63971DCAB}"/>
              </a:ext>
            </a:extLst>
          </p:cNvPr>
          <p:cNvSpPr/>
          <p:nvPr/>
        </p:nvSpPr>
        <p:spPr>
          <a:xfrm>
            <a:off x="620945" y="3836571"/>
            <a:ext cx="1363497" cy="26314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92B0EFE-0A74-6D6F-1D4F-F94B859B2487}"/>
              </a:ext>
            </a:extLst>
          </p:cNvPr>
          <p:cNvSpPr/>
          <p:nvPr/>
        </p:nvSpPr>
        <p:spPr>
          <a:xfrm>
            <a:off x="640400" y="4716781"/>
            <a:ext cx="1363497" cy="26314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A899FA65-40B2-F096-D7FE-5844B30B40E2}"/>
              </a:ext>
            </a:extLst>
          </p:cNvPr>
          <p:cNvSpPr/>
          <p:nvPr/>
        </p:nvSpPr>
        <p:spPr>
          <a:xfrm>
            <a:off x="640400" y="5596991"/>
            <a:ext cx="1363497" cy="26314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583691D3-795B-4C60-0AE6-B0594475B13C}"/>
              </a:ext>
            </a:extLst>
          </p:cNvPr>
          <p:cNvSpPr/>
          <p:nvPr/>
        </p:nvSpPr>
        <p:spPr>
          <a:xfrm>
            <a:off x="6464026" y="3933851"/>
            <a:ext cx="1363497" cy="26314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3E37BA86-FA5C-8643-703C-384F95B367B6}"/>
              </a:ext>
            </a:extLst>
          </p:cNvPr>
          <p:cNvSpPr/>
          <p:nvPr/>
        </p:nvSpPr>
        <p:spPr>
          <a:xfrm>
            <a:off x="6483481" y="4814061"/>
            <a:ext cx="1363497" cy="26314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C965D75F-30A6-6BBB-87F7-14A8BF3AA55E}"/>
              </a:ext>
            </a:extLst>
          </p:cNvPr>
          <p:cNvSpPr/>
          <p:nvPr/>
        </p:nvSpPr>
        <p:spPr>
          <a:xfrm>
            <a:off x="6483481" y="5694271"/>
            <a:ext cx="1363497" cy="26314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1F68EFEC-2B2C-B636-1E5F-3C0E79EEB032}"/>
              </a:ext>
            </a:extLst>
          </p:cNvPr>
          <p:cNvSpPr/>
          <p:nvPr/>
        </p:nvSpPr>
        <p:spPr>
          <a:xfrm>
            <a:off x="5841461" y="1060663"/>
            <a:ext cx="5882371" cy="1950900"/>
          </a:xfrm>
          <a:prstGeom prst="round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C00000"/>
                </a:solidFill>
                <a:latin typeface="Montserrat" pitchFamily="2" charset="0"/>
              </a:rPr>
              <a:t>O </a:t>
            </a:r>
            <a:r>
              <a:rPr lang="pt-BR" sz="1400" b="1" dirty="0">
                <a:solidFill>
                  <a:srgbClr val="C00000"/>
                </a:solidFill>
                <a:latin typeface="Montserrat" pitchFamily="2" charset="0"/>
              </a:rPr>
              <a:t>número populacional e de domicílios</a:t>
            </a:r>
            <a:r>
              <a:rPr lang="pt-BR" sz="1400" dirty="0">
                <a:solidFill>
                  <a:srgbClr val="C00000"/>
                </a:solidFill>
                <a:latin typeface="Montserrat" pitchFamily="2" charset="0"/>
              </a:rPr>
              <a:t> que for apresentado nestas tabelas </a:t>
            </a:r>
            <a:r>
              <a:rPr lang="pt-BR" sz="1400" b="1" dirty="0">
                <a:solidFill>
                  <a:srgbClr val="C00000"/>
                </a:solidFill>
                <a:latin typeface="Montserrat" pitchFamily="2" charset="0"/>
              </a:rPr>
              <a:t>deve bater com o apresentados em </a:t>
            </a:r>
            <a:r>
              <a:rPr lang="pt-BR" sz="1400" b="1" u="sng" dirty="0">
                <a:solidFill>
                  <a:srgbClr val="C00000"/>
                </a:solidFill>
                <a:latin typeface="Montserrat" pitchFamily="2" charset="0"/>
              </a:rPr>
              <a:t>todas </a:t>
            </a:r>
            <a:r>
              <a:rPr lang="pt-BR" sz="1400" dirty="0">
                <a:solidFill>
                  <a:srgbClr val="C00000"/>
                </a:solidFill>
                <a:latin typeface="Montserrat" pitchFamily="2" charset="0"/>
              </a:rPr>
              <a:t>as </a:t>
            </a:r>
            <a:r>
              <a:rPr lang="pt-BR" sz="1400" b="1" dirty="0">
                <a:solidFill>
                  <a:srgbClr val="C00000"/>
                </a:solidFill>
                <a:latin typeface="Montserrat" pitchFamily="2" charset="0"/>
              </a:rPr>
              <a:t>tabelas da </a:t>
            </a:r>
            <a:r>
              <a:rPr lang="pt-BR" sz="1400" b="1" dirty="0" err="1">
                <a:solidFill>
                  <a:srgbClr val="C00000"/>
                </a:solidFill>
                <a:latin typeface="Montserrat" pitchFamily="2" charset="0"/>
              </a:rPr>
              <a:t>sociodemografia</a:t>
            </a:r>
            <a:endParaRPr lang="pt-BR" sz="1400" b="1" dirty="0">
              <a:solidFill>
                <a:srgbClr val="C00000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387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FECF1-59EA-E03D-E79F-C3FB430C3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8FE4956-D1E7-3D1C-B0AD-B624BFB1EFB1}"/>
              </a:ext>
            </a:extLst>
          </p:cNvPr>
          <p:cNvSpPr/>
          <p:nvPr/>
        </p:nvSpPr>
        <p:spPr>
          <a:xfrm>
            <a:off x="6352162" y="1945532"/>
            <a:ext cx="5839838" cy="4705878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  <a:latin typeface="Montserrat" pitchFamily="2" charset="0"/>
              </a:rPr>
              <a:t>Exemplo de erro de soma</a:t>
            </a:r>
          </a:p>
          <a:p>
            <a:pPr algn="ctr"/>
            <a:endParaRPr lang="pt-BR" sz="1400" dirty="0">
              <a:solidFill>
                <a:schemeClr val="bg1"/>
              </a:solidFill>
              <a:latin typeface="Montserrat" pitchFamily="2" charset="0"/>
            </a:endParaRPr>
          </a:p>
          <a:p>
            <a:pPr algn="ctr"/>
            <a:endParaRPr lang="pt-BR" sz="1400" dirty="0">
              <a:solidFill>
                <a:schemeClr val="bg1"/>
              </a:solidFill>
              <a:latin typeface="Montserrat" pitchFamily="2" charset="0"/>
            </a:endParaRPr>
          </a:p>
          <a:p>
            <a:pPr algn="ctr"/>
            <a:endParaRPr lang="pt-BR" sz="1400" dirty="0">
              <a:solidFill>
                <a:schemeClr val="bg1"/>
              </a:solidFill>
              <a:latin typeface="Montserrat" pitchFamily="2" charset="0"/>
            </a:endParaRPr>
          </a:p>
          <a:p>
            <a:pPr algn="ctr"/>
            <a:endParaRPr lang="pt-BR" sz="1400" dirty="0">
              <a:solidFill>
                <a:schemeClr val="bg1"/>
              </a:solidFill>
              <a:latin typeface="Montserrat" pitchFamily="2" charset="0"/>
            </a:endParaRPr>
          </a:p>
          <a:p>
            <a:pPr algn="ctr"/>
            <a:endParaRPr lang="pt-BR" sz="1400" dirty="0">
              <a:solidFill>
                <a:schemeClr val="bg1"/>
              </a:solidFill>
              <a:latin typeface="Montserrat" pitchFamily="2" charset="0"/>
            </a:endParaRPr>
          </a:p>
          <a:p>
            <a:pPr algn="ctr"/>
            <a:endParaRPr lang="pt-BR" sz="1400" dirty="0">
              <a:solidFill>
                <a:schemeClr val="bg1"/>
              </a:solidFill>
              <a:latin typeface="Montserrat" pitchFamily="2" charset="0"/>
            </a:endParaRPr>
          </a:p>
          <a:p>
            <a:pPr algn="ctr"/>
            <a:endParaRPr lang="pt-BR" sz="1400" dirty="0">
              <a:solidFill>
                <a:schemeClr val="bg1"/>
              </a:solidFill>
              <a:latin typeface="Montserrat" pitchFamily="2" charset="0"/>
            </a:endParaRPr>
          </a:p>
          <a:p>
            <a:pPr algn="ctr"/>
            <a:endParaRPr lang="pt-BR" sz="1400" dirty="0">
              <a:solidFill>
                <a:schemeClr val="bg1"/>
              </a:solidFill>
              <a:latin typeface="Montserrat" pitchFamily="2" charset="0"/>
            </a:endParaRPr>
          </a:p>
          <a:p>
            <a:pPr algn="ctr"/>
            <a:endParaRPr lang="pt-BR" sz="1400" dirty="0">
              <a:solidFill>
                <a:schemeClr val="bg1"/>
              </a:solidFill>
              <a:latin typeface="Montserrat" pitchFamily="2" charset="0"/>
            </a:endParaRPr>
          </a:p>
          <a:p>
            <a:pPr algn="ctr"/>
            <a:endParaRPr lang="pt-BR" sz="1400" dirty="0">
              <a:solidFill>
                <a:schemeClr val="bg1"/>
              </a:solidFill>
              <a:latin typeface="Montserrat" pitchFamily="2" charset="0"/>
            </a:endParaRPr>
          </a:p>
          <a:p>
            <a:pPr algn="ctr"/>
            <a:endParaRPr lang="pt-BR" sz="1400" dirty="0">
              <a:solidFill>
                <a:schemeClr val="bg1"/>
              </a:solidFill>
              <a:latin typeface="Montserrat" pitchFamily="2" charset="0"/>
            </a:endParaRPr>
          </a:p>
          <a:p>
            <a:pPr algn="ctr"/>
            <a:endParaRPr lang="pt-BR" sz="1400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45C4211-6863-1E14-A36C-1F3CA9291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03" y="3267219"/>
            <a:ext cx="5909554" cy="3384191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75B333CE-9ADE-EC4A-7DD0-915EC41A409C}"/>
              </a:ext>
            </a:extLst>
          </p:cNvPr>
          <p:cNvSpPr txBox="1">
            <a:spLocks/>
          </p:cNvSpPr>
          <p:nvPr/>
        </p:nvSpPr>
        <p:spPr>
          <a:xfrm>
            <a:off x="0" y="30881"/>
            <a:ext cx="12192000" cy="774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Sociodemografia</a:t>
            </a:r>
            <a:endParaRPr lang="pt-BR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7795C24-FB07-19D9-BF66-D6A5948E29EF}"/>
              </a:ext>
            </a:extLst>
          </p:cNvPr>
          <p:cNvSpPr txBox="1"/>
          <p:nvPr/>
        </p:nvSpPr>
        <p:spPr>
          <a:xfrm>
            <a:off x="186446" y="805007"/>
            <a:ext cx="605871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0212" lvl="1" indent="-342900">
              <a:buFont typeface="+mj-lt"/>
              <a:buAutoNum type="arabicPeriod" startAt="2"/>
            </a:pPr>
            <a:r>
              <a:rPr lang="pt-BR" sz="1400" b="1" dirty="0" err="1">
                <a:latin typeface="Montserrat" pitchFamily="2" charset="0"/>
              </a:rPr>
              <a:t>Sociodemografia</a:t>
            </a:r>
            <a:endParaRPr lang="pt-BR" sz="1400" b="1" dirty="0">
              <a:latin typeface="Montserrat" pitchFamily="2" charset="0"/>
            </a:endParaRPr>
          </a:p>
          <a:p>
            <a:pPr lvl="2"/>
            <a:r>
              <a:rPr lang="pt-BR" sz="1400" b="1" dirty="0">
                <a:latin typeface="Montserrat" pitchFamily="2" charset="0"/>
              </a:rPr>
              <a:t>2.4) População por faixa de renda</a:t>
            </a:r>
          </a:p>
          <a:p>
            <a:pPr lvl="3"/>
            <a:r>
              <a:rPr lang="pt-BR" sz="1400" dirty="0">
                <a:latin typeface="Montserrat" pitchFamily="2" charset="0"/>
              </a:rPr>
              <a:t>2.4.1) Mapa densidade demográfica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2.5) Domicílios por faixa de renda</a:t>
            </a:r>
          </a:p>
          <a:p>
            <a:pPr lvl="3"/>
            <a:r>
              <a:rPr lang="pt-BR" sz="1400" dirty="0">
                <a:latin typeface="Montserrat" pitchFamily="2" charset="0"/>
              </a:rPr>
              <a:t>2.5.1) Mapa Renda domiciliar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2.6) Domicílios por número de moradores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2.7) Domicílios por tipo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         2.7.1) Mapa com Índice de Verticalização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2.8) Domicílios por condição de ocupação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          2.8.1) Mapa Índice de Propriedade</a:t>
            </a:r>
          </a:p>
          <a:p>
            <a:pPr marL="631825" lvl="3" indent="-87313"/>
            <a:endParaRPr lang="pt-BR" sz="1400" dirty="0">
              <a:latin typeface="Montserrat" pitchFamily="2" charset="0"/>
            </a:endParaRP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759CA275-8400-80B1-F57A-88F1650D8A72}"/>
              </a:ext>
            </a:extLst>
          </p:cNvPr>
          <p:cNvSpPr/>
          <p:nvPr/>
        </p:nvSpPr>
        <p:spPr>
          <a:xfrm>
            <a:off x="1302693" y="5445964"/>
            <a:ext cx="1673971" cy="22885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E567CCA6-F93D-2AEA-466A-AAF43E302F5F}"/>
              </a:ext>
            </a:extLst>
          </p:cNvPr>
          <p:cNvSpPr/>
          <p:nvPr/>
        </p:nvSpPr>
        <p:spPr>
          <a:xfrm>
            <a:off x="335604" y="6063441"/>
            <a:ext cx="2375982" cy="597697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Os dados devem bater com os apresentados nas tabelas de variação anual 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825D28DF-D351-2D36-C540-589029E46118}"/>
              </a:ext>
            </a:extLst>
          </p:cNvPr>
          <p:cNvSpPr/>
          <p:nvPr/>
        </p:nvSpPr>
        <p:spPr>
          <a:xfrm>
            <a:off x="4298813" y="4247214"/>
            <a:ext cx="506652" cy="11987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6A992CC3-7526-A6E3-B773-BA5596876090}"/>
              </a:ext>
            </a:extLst>
          </p:cNvPr>
          <p:cNvSpPr/>
          <p:nvPr/>
        </p:nvSpPr>
        <p:spPr>
          <a:xfrm>
            <a:off x="3870390" y="3041768"/>
            <a:ext cx="2663040" cy="1007845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rgbClr val="C00000"/>
                </a:solidFill>
                <a:highlight>
                  <a:srgbClr val="FFFF00"/>
                </a:highlight>
                <a:latin typeface="Montserrat" pitchFamily="2" charset="0"/>
              </a:rPr>
              <a:t>Cada coluna de valor absoluto deve fechar a soma no valor total, isso server para </a:t>
            </a:r>
            <a:r>
              <a:rPr lang="pt-BR" sz="1100" b="1" dirty="0">
                <a:solidFill>
                  <a:srgbClr val="C00000"/>
                </a:solidFill>
                <a:highlight>
                  <a:srgbClr val="FFFF00"/>
                </a:highlight>
                <a:latin typeface="Montserrat" pitchFamily="2" charset="0"/>
              </a:rPr>
              <a:t>TODAS AS TABELAS </a:t>
            </a:r>
            <a:r>
              <a:rPr lang="pt-BR" sz="1100" dirty="0">
                <a:solidFill>
                  <a:srgbClr val="C00000"/>
                </a:solidFill>
                <a:highlight>
                  <a:srgbClr val="FFFF00"/>
                </a:highlight>
                <a:latin typeface="Montserrat" pitchFamily="2" charset="0"/>
              </a:rPr>
              <a:t>da </a:t>
            </a:r>
            <a:r>
              <a:rPr lang="pt-BR" sz="1100" dirty="0" err="1">
                <a:solidFill>
                  <a:srgbClr val="C00000"/>
                </a:solidFill>
                <a:highlight>
                  <a:srgbClr val="FFFF00"/>
                </a:highlight>
                <a:latin typeface="Montserrat" pitchFamily="2" charset="0"/>
              </a:rPr>
              <a:t>sociodemografia</a:t>
            </a:r>
            <a:endParaRPr lang="pt-BR" sz="1100" dirty="0">
              <a:solidFill>
                <a:srgbClr val="C00000"/>
              </a:solidFill>
              <a:highlight>
                <a:srgbClr val="FFFF00"/>
              </a:highlight>
              <a:latin typeface="Montserrat" pitchFamily="2" charset="0"/>
            </a:endParaRPr>
          </a:p>
        </p:txBody>
      </p:sp>
      <p:sp>
        <p:nvSpPr>
          <p:cNvPr id="9" name="Seta: para a Esquerda e para Cima 8">
            <a:extLst>
              <a:ext uri="{FF2B5EF4-FFF2-40B4-BE49-F238E27FC236}">
                <a16:creationId xmlns:a16="http://schemas.microsoft.com/office/drawing/2014/main" id="{199A17F3-F74E-4FC4-16A1-15C58094B797}"/>
              </a:ext>
            </a:extLst>
          </p:cNvPr>
          <p:cNvSpPr/>
          <p:nvPr/>
        </p:nvSpPr>
        <p:spPr>
          <a:xfrm rot="3172195">
            <a:off x="1904821" y="5390396"/>
            <a:ext cx="612843" cy="633324"/>
          </a:xfrm>
          <a:prstGeom prst="leftUpArrow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Nuvem 9">
            <a:extLst>
              <a:ext uri="{FF2B5EF4-FFF2-40B4-BE49-F238E27FC236}">
                <a16:creationId xmlns:a16="http://schemas.microsoft.com/office/drawing/2014/main" id="{D37E7C79-65DB-4DCB-51AB-4068AAA4FA12}"/>
              </a:ext>
            </a:extLst>
          </p:cNvPr>
          <p:cNvSpPr/>
          <p:nvPr/>
        </p:nvSpPr>
        <p:spPr>
          <a:xfrm>
            <a:off x="4220995" y="5402700"/>
            <a:ext cx="662293" cy="371176"/>
          </a:xfrm>
          <a:prstGeom prst="cloud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B128398-DABA-FAB4-D64D-9CF3847C1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430" y="4298471"/>
            <a:ext cx="5387425" cy="140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750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72246-29DF-64A4-AA63-B68740D8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0F299F1-F532-F476-9A03-6BE5FEC26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46" y="2695379"/>
            <a:ext cx="6439054" cy="3856696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B0AA984F-C619-6AD6-6792-3D86407EB37F}"/>
              </a:ext>
            </a:extLst>
          </p:cNvPr>
          <p:cNvSpPr txBox="1">
            <a:spLocks/>
          </p:cNvSpPr>
          <p:nvPr/>
        </p:nvSpPr>
        <p:spPr>
          <a:xfrm>
            <a:off x="0" y="30881"/>
            <a:ext cx="12192000" cy="774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Sociodemografia</a:t>
            </a:r>
            <a:endParaRPr lang="pt-BR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2BED145-5136-186D-C085-1ACB08603AD5}"/>
              </a:ext>
            </a:extLst>
          </p:cNvPr>
          <p:cNvSpPr txBox="1"/>
          <p:nvPr/>
        </p:nvSpPr>
        <p:spPr>
          <a:xfrm>
            <a:off x="186446" y="805007"/>
            <a:ext cx="60587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0212" lvl="1" indent="-342900">
              <a:buFont typeface="+mj-lt"/>
              <a:buAutoNum type="arabicPeriod" startAt="2"/>
            </a:pPr>
            <a:r>
              <a:rPr lang="pt-BR" sz="1400" b="1" dirty="0" err="1">
                <a:latin typeface="Montserrat" pitchFamily="2" charset="0"/>
              </a:rPr>
              <a:t>Sociodemografia</a:t>
            </a:r>
            <a:endParaRPr lang="pt-BR" sz="1400" b="1" dirty="0">
              <a:latin typeface="Montserrat" pitchFamily="2" charset="0"/>
            </a:endParaRPr>
          </a:p>
          <a:p>
            <a:pPr lvl="2"/>
            <a:r>
              <a:rPr lang="pt-BR" sz="1400" b="1" dirty="0">
                <a:latin typeface="Montserrat" pitchFamily="2" charset="0"/>
              </a:rPr>
              <a:t>2.7) Domicílios por tipo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         2.7.1) </a:t>
            </a:r>
            <a:r>
              <a:rPr lang="pt-BR" sz="1400" b="1" dirty="0">
                <a:latin typeface="Montserrat" pitchFamily="2" charset="0"/>
              </a:rPr>
              <a:t>Mapa com Índice de Verticalização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2.8) Domicílios por condição de ocupação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          2.8.1) Mapa Índice de Propriedade</a:t>
            </a:r>
          </a:p>
          <a:p>
            <a:pPr marL="631825" lvl="3" indent="-87313"/>
            <a:endParaRPr lang="pt-BR" sz="1400" dirty="0">
              <a:latin typeface="Montserrat" pitchFamily="2" charset="0"/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ACA8298D-C02F-66A1-451E-A19C2A3BE179}"/>
              </a:ext>
            </a:extLst>
          </p:cNvPr>
          <p:cNvSpPr/>
          <p:nvPr/>
        </p:nvSpPr>
        <p:spPr>
          <a:xfrm>
            <a:off x="927664" y="6234286"/>
            <a:ext cx="4624693" cy="597697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Esses % devem bater com os dados do IBGE https://censo2022.ibge.gov.br/panorama/indicadores.html?localidade=BR&amp;tema=2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D338B00D-520C-B34E-1418-0A13F43D788F}"/>
              </a:ext>
            </a:extLst>
          </p:cNvPr>
          <p:cNvSpPr/>
          <p:nvPr/>
        </p:nvSpPr>
        <p:spPr>
          <a:xfrm>
            <a:off x="1417290" y="3545752"/>
            <a:ext cx="1732336" cy="244650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a Esquerda e para Cima 8">
            <a:extLst>
              <a:ext uri="{FF2B5EF4-FFF2-40B4-BE49-F238E27FC236}">
                <a16:creationId xmlns:a16="http://schemas.microsoft.com/office/drawing/2014/main" id="{9AD29FA7-79F0-7396-FDB5-E2FAC830B59F}"/>
              </a:ext>
            </a:extLst>
          </p:cNvPr>
          <p:cNvSpPr/>
          <p:nvPr/>
        </p:nvSpPr>
        <p:spPr>
          <a:xfrm rot="3172195">
            <a:off x="1991425" y="5628775"/>
            <a:ext cx="612843" cy="633324"/>
          </a:xfrm>
          <a:prstGeom prst="leftUpArrow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9EA7C8F-829D-4DA0-CA9E-710406007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020" y="3154938"/>
            <a:ext cx="6058711" cy="3397137"/>
          </a:xfrm>
          <a:prstGeom prst="rect">
            <a:avLst/>
          </a:prstGeom>
        </p:spPr>
      </p:pic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503200A-029D-E34F-CE31-A9A95609ACD6}"/>
              </a:ext>
            </a:extLst>
          </p:cNvPr>
          <p:cNvSpPr/>
          <p:nvPr/>
        </p:nvSpPr>
        <p:spPr>
          <a:xfrm>
            <a:off x="10612877" y="3064212"/>
            <a:ext cx="1458854" cy="157229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: para Baixo 16">
            <a:extLst>
              <a:ext uri="{FF2B5EF4-FFF2-40B4-BE49-F238E27FC236}">
                <a16:creationId xmlns:a16="http://schemas.microsoft.com/office/drawing/2014/main" id="{DAD46AB3-56F8-78AB-671B-5A793E449A23}"/>
              </a:ext>
            </a:extLst>
          </p:cNvPr>
          <p:cNvSpPr/>
          <p:nvPr/>
        </p:nvSpPr>
        <p:spPr>
          <a:xfrm>
            <a:off x="11269126" y="1964987"/>
            <a:ext cx="437892" cy="1216360"/>
          </a:xfrm>
          <a:prstGeom prst="downArrow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FFDAC66-AA32-FAC0-DECB-E72A14F29C42}"/>
              </a:ext>
            </a:extLst>
          </p:cNvPr>
          <p:cNvSpPr/>
          <p:nvPr/>
        </p:nvSpPr>
        <p:spPr>
          <a:xfrm>
            <a:off x="7330086" y="1891153"/>
            <a:ext cx="4624693" cy="597697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Os dados apresentados neste mapa, devem bater com os dados apresentados no gráfico de “domicílios por tipo”</a:t>
            </a:r>
          </a:p>
        </p:txBody>
      </p:sp>
    </p:spTree>
    <p:extLst>
      <p:ext uri="{BB962C8B-B14F-4D97-AF65-F5344CB8AC3E}">
        <p14:creationId xmlns:p14="http://schemas.microsoft.com/office/powerpoint/2010/main" val="1034501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E1976-EFA1-BE82-C1D7-257790696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A682B08D-7CEB-CB3D-41E0-E2067B86F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005" y="3184579"/>
            <a:ext cx="5207774" cy="290385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8D0D12C-E247-F893-70A0-BDE95BDCF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911487"/>
            <a:ext cx="6634264" cy="2530849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3C6A995C-1466-EC66-C9EC-7E0A7470D2AA}"/>
              </a:ext>
            </a:extLst>
          </p:cNvPr>
          <p:cNvSpPr txBox="1">
            <a:spLocks/>
          </p:cNvSpPr>
          <p:nvPr/>
        </p:nvSpPr>
        <p:spPr>
          <a:xfrm>
            <a:off x="0" y="30881"/>
            <a:ext cx="12192000" cy="774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Sociodemografia</a:t>
            </a:r>
            <a:endParaRPr lang="pt-BR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F202B24-5947-9AE4-AC30-FAFD90882BB7}"/>
              </a:ext>
            </a:extLst>
          </p:cNvPr>
          <p:cNvSpPr txBox="1"/>
          <p:nvPr/>
        </p:nvSpPr>
        <p:spPr>
          <a:xfrm>
            <a:off x="186446" y="805007"/>
            <a:ext cx="60587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0212" lvl="1" indent="-342900">
              <a:buFont typeface="+mj-lt"/>
              <a:buAutoNum type="arabicPeriod" startAt="2"/>
            </a:pPr>
            <a:r>
              <a:rPr lang="pt-BR" sz="1400" b="1" dirty="0" err="1">
                <a:latin typeface="Montserrat" pitchFamily="2" charset="0"/>
              </a:rPr>
              <a:t>Sociodemografia</a:t>
            </a:r>
            <a:endParaRPr lang="pt-BR" sz="1400" b="1" dirty="0">
              <a:latin typeface="Montserrat" pitchFamily="2" charset="0"/>
            </a:endParaRPr>
          </a:p>
          <a:p>
            <a:pPr lvl="2"/>
            <a:r>
              <a:rPr lang="pt-BR" sz="1400" dirty="0">
                <a:latin typeface="Montserrat" pitchFamily="2" charset="0"/>
              </a:rPr>
              <a:t>2.8) Domicílios por condição de ocupação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          2.8.1) Mapa Índice de Propriedade</a:t>
            </a:r>
          </a:p>
          <a:p>
            <a:pPr marL="631825" lvl="3" indent="-87313"/>
            <a:endParaRPr lang="pt-BR" sz="1400" dirty="0">
              <a:latin typeface="Montserrat" pitchFamily="2" charset="0"/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0516EDE2-2C47-C9C9-C15B-C91DBD709982}"/>
              </a:ext>
            </a:extLst>
          </p:cNvPr>
          <p:cNvSpPr/>
          <p:nvPr/>
        </p:nvSpPr>
        <p:spPr>
          <a:xfrm>
            <a:off x="645671" y="5754144"/>
            <a:ext cx="4624693" cy="597697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Esses % devem bater com os dados do IBGE https://censo2022.ibge.gov.br/panorama/indicadores.html?localidade=BR&amp;tema=2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5F9C289-5ABC-B353-547A-F499588C252D}"/>
              </a:ext>
            </a:extLst>
          </p:cNvPr>
          <p:cNvSpPr/>
          <p:nvPr/>
        </p:nvSpPr>
        <p:spPr>
          <a:xfrm>
            <a:off x="2013626" y="4231532"/>
            <a:ext cx="515565" cy="121080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a Esquerda e para Cima 8">
            <a:extLst>
              <a:ext uri="{FF2B5EF4-FFF2-40B4-BE49-F238E27FC236}">
                <a16:creationId xmlns:a16="http://schemas.microsoft.com/office/drawing/2014/main" id="{752CC312-AF91-EF6B-5289-0CC8AE2CE0DD}"/>
              </a:ext>
            </a:extLst>
          </p:cNvPr>
          <p:cNvSpPr/>
          <p:nvPr/>
        </p:nvSpPr>
        <p:spPr>
          <a:xfrm rot="3172195">
            <a:off x="2402416" y="5125674"/>
            <a:ext cx="612843" cy="633324"/>
          </a:xfrm>
          <a:prstGeom prst="leftUpArrow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F57904F-EA39-FECF-6A12-D7A4F27BC0F1}"/>
              </a:ext>
            </a:extLst>
          </p:cNvPr>
          <p:cNvSpPr/>
          <p:nvPr/>
        </p:nvSpPr>
        <p:spPr>
          <a:xfrm>
            <a:off x="10807429" y="3064213"/>
            <a:ext cx="1264301" cy="123541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: para Baixo 16">
            <a:extLst>
              <a:ext uri="{FF2B5EF4-FFF2-40B4-BE49-F238E27FC236}">
                <a16:creationId xmlns:a16="http://schemas.microsoft.com/office/drawing/2014/main" id="{4233EA01-F3DA-068F-B8FA-3F3673804C82}"/>
              </a:ext>
            </a:extLst>
          </p:cNvPr>
          <p:cNvSpPr/>
          <p:nvPr/>
        </p:nvSpPr>
        <p:spPr>
          <a:xfrm>
            <a:off x="11269126" y="1964987"/>
            <a:ext cx="437892" cy="1216360"/>
          </a:xfrm>
          <a:prstGeom prst="downArrow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D44DC7D-15DE-1EE0-3E16-72977D7867EE}"/>
              </a:ext>
            </a:extLst>
          </p:cNvPr>
          <p:cNvSpPr/>
          <p:nvPr/>
        </p:nvSpPr>
        <p:spPr>
          <a:xfrm>
            <a:off x="7330086" y="1891153"/>
            <a:ext cx="4624693" cy="597697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Os dados apresentados neste mapa, devem bater com os dados apresentados no gráfico de “domicílios por condição de ocupação”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4E8F772-E277-86D5-B741-84FCC0F7DD2C}"/>
              </a:ext>
            </a:extLst>
          </p:cNvPr>
          <p:cNvSpPr/>
          <p:nvPr/>
        </p:nvSpPr>
        <p:spPr>
          <a:xfrm>
            <a:off x="2958018" y="4176911"/>
            <a:ext cx="515565" cy="121080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F48ECFA-73B6-7C08-00B4-40C3F9D3D385}"/>
              </a:ext>
            </a:extLst>
          </p:cNvPr>
          <p:cNvSpPr/>
          <p:nvPr/>
        </p:nvSpPr>
        <p:spPr>
          <a:xfrm>
            <a:off x="2641931" y="4231532"/>
            <a:ext cx="3865872" cy="46355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2CD1462C-6634-7193-429E-749A6FBF6532}"/>
              </a:ext>
            </a:extLst>
          </p:cNvPr>
          <p:cNvCxnSpPr/>
          <p:nvPr/>
        </p:nvCxnSpPr>
        <p:spPr>
          <a:xfrm flipV="1">
            <a:off x="6245157" y="3429000"/>
            <a:ext cx="4649822" cy="97763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303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A0B25-E18C-B42A-131E-11D4B59A4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D1B45D3F-D0CE-C336-2B93-DDEB169E3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21" y="2239455"/>
            <a:ext cx="6874438" cy="4112386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30CF1C76-336A-DFC3-7A10-98FD3B7EB3C1}"/>
              </a:ext>
            </a:extLst>
          </p:cNvPr>
          <p:cNvSpPr txBox="1">
            <a:spLocks/>
          </p:cNvSpPr>
          <p:nvPr/>
        </p:nvSpPr>
        <p:spPr>
          <a:xfrm>
            <a:off x="0" y="30881"/>
            <a:ext cx="12192000" cy="774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Projeção de absorção de domicílios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B2393C60-9F58-D003-39FE-356D20AA7913}"/>
              </a:ext>
            </a:extLst>
          </p:cNvPr>
          <p:cNvSpPr/>
          <p:nvPr/>
        </p:nvSpPr>
        <p:spPr>
          <a:xfrm>
            <a:off x="645671" y="6049733"/>
            <a:ext cx="3610988" cy="39970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F516433-38B6-8297-5951-5B309D501CF3}"/>
              </a:ext>
            </a:extLst>
          </p:cNvPr>
          <p:cNvSpPr/>
          <p:nvPr/>
        </p:nvSpPr>
        <p:spPr>
          <a:xfrm>
            <a:off x="1380807" y="3064212"/>
            <a:ext cx="1570430" cy="211325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CA3B20-033D-68AE-D7AE-1F8899D9F3BE}"/>
              </a:ext>
            </a:extLst>
          </p:cNvPr>
          <p:cNvSpPr txBox="1"/>
          <p:nvPr/>
        </p:nvSpPr>
        <p:spPr>
          <a:xfrm>
            <a:off x="0" y="938610"/>
            <a:ext cx="88813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</a:pPr>
            <a:r>
              <a:rPr lang="pt-BR" sz="1400" b="1" dirty="0">
                <a:latin typeface="Montserrat" pitchFamily="2" charset="0"/>
              </a:rPr>
              <a:t>Projeção de absorção de domicílios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3.1) Absorção de domicílios da </a:t>
            </a:r>
            <a:r>
              <a:rPr lang="pt-BR" sz="1400" b="1" dirty="0">
                <a:latin typeface="Montserrat" pitchFamily="2" charset="0"/>
              </a:rPr>
              <a:t>zona de influência total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        3.1.1) cenários de absorção de lançamentos da </a:t>
            </a:r>
            <a:r>
              <a:rPr lang="pt-BR" sz="1400" b="1" dirty="0">
                <a:latin typeface="Montserrat" pitchFamily="2" charset="0"/>
              </a:rPr>
              <a:t>zona de influência total</a:t>
            </a:r>
            <a:endParaRPr lang="pt-BR" sz="1400" dirty="0">
              <a:latin typeface="Montserrat" pitchFamily="2" charset="0"/>
            </a:endParaRPr>
          </a:p>
        </p:txBody>
      </p:sp>
      <p:sp>
        <p:nvSpPr>
          <p:cNvPr id="20" name="Seta: para a Esquerda 19">
            <a:extLst>
              <a:ext uri="{FF2B5EF4-FFF2-40B4-BE49-F238E27FC236}">
                <a16:creationId xmlns:a16="http://schemas.microsoft.com/office/drawing/2014/main" id="{FE2D2596-74A8-377F-88CD-57C2542274F6}"/>
              </a:ext>
            </a:extLst>
          </p:cNvPr>
          <p:cNvSpPr/>
          <p:nvPr/>
        </p:nvSpPr>
        <p:spPr>
          <a:xfrm>
            <a:off x="4157224" y="5792385"/>
            <a:ext cx="5671232" cy="914400"/>
          </a:xfrm>
          <a:prstGeom prst="leftArrow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C00000"/>
                </a:solidFill>
                <a:latin typeface="Montserrat" pitchFamily="2" charset="0"/>
              </a:rPr>
              <a:t>Precisa ser indicado no slide a fonte e elaboração, além da observação de que desconsidera absorção de 2ª moradia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B9B476C-9099-774C-F3C8-E8C0EF156BC3}"/>
              </a:ext>
            </a:extLst>
          </p:cNvPr>
          <p:cNvSpPr/>
          <p:nvPr/>
        </p:nvSpPr>
        <p:spPr>
          <a:xfrm>
            <a:off x="258085" y="5182395"/>
            <a:ext cx="3343484" cy="738664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As faixas de rendas apresentadas nesta análise, devem ser as mesmas que foram apresentadas na </a:t>
            </a:r>
            <a:r>
              <a:rPr lang="pt-BR" sz="1100" dirty="0" err="1">
                <a:solidFill>
                  <a:srgbClr val="C00000"/>
                </a:solidFill>
                <a:latin typeface="Montserrat" pitchFamily="2" charset="0"/>
              </a:rPr>
              <a:t>sociodemografia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 na análise “Domicílios por faixa de renda”</a:t>
            </a:r>
          </a:p>
        </p:txBody>
      </p:sp>
    </p:spTree>
    <p:extLst>
      <p:ext uri="{BB962C8B-B14F-4D97-AF65-F5344CB8AC3E}">
        <p14:creationId xmlns:p14="http://schemas.microsoft.com/office/powerpoint/2010/main" val="1498280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7EB1D-C75E-C62E-35BB-1C9EED76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D860988-0385-224A-9354-9B899F4AAF8E}"/>
              </a:ext>
            </a:extLst>
          </p:cNvPr>
          <p:cNvSpPr txBox="1">
            <a:spLocks/>
          </p:cNvSpPr>
          <p:nvPr/>
        </p:nvSpPr>
        <p:spPr>
          <a:xfrm>
            <a:off x="0" y="30881"/>
            <a:ext cx="12192000" cy="774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Análise de mercado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D3157CB-E602-84BC-A711-3D42798C8FBC}"/>
              </a:ext>
            </a:extLst>
          </p:cNvPr>
          <p:cNvSpPr txBox="1"/>
          <p:nvPr/>
        </p:nvSpPr>
        <p:spPr>
          <a:xfrm>
            <a:off x="0" y="938610"/>
            <a:ext cx="888135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4"/>
            </a:pPr>
            <a:r>
              <a:rPr lang="pt-BR" sz="1400" b="1" dirty="0">
                <a:latin typeface="Montserrat" pitchFamily="2" charset="0"/>
              </a:rPr>
              <a:t>Análise do mercado</a:t>
            </a:r>
          </a:p>
          <a:p>
            <a:pPr lvl="2"/>
            <a:r>
              <a:rPr lang="pt-BR" sz="1400" b="1" dirty="0">
                <a:latin typeface="Montserrat" pitchFamily="2" charset="0"/>
              </a:rPr>
              <a:t>4.5) Consolidada dos empreendimentos da Z.I primária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4.6) Oferta lançada e oferta atual </a:t>
            </a:r>
            <a:r>
              <a:rPr lang="pt-BR" sz="1400" b="1" dirty="0">
                <a:latin typeface="Montserrat" pitchFamily="2" charset="0"/>
              </a:rPr>
              <a:t>por padrão</a:t>
            </a:r>
            <a:endParaRPr lang="pt-BR" sz="1400" dirty="0">
              <a:latin typeface="Montserrat" pitchFamily="2" charset="0"/>
            </a:endParaRPr>
          </a:p>
          <a:p>
            <a:pPr lvl="2"/>
            <a:r>
              <a:rPr lang="pt-BR" sz="1400" dirty="0">
                <a:latin typeface="Montserrat" pitchFamily="2" charset="0"/>
              </a:rPr>
              <a:t>4.7) Oferta lançada e oferta atual </a:t>
            </a:r>
            <a:r>
              <a:rPr lang="pt-BR" sz="1400" b="1" dirty="0">
                <a:latin typeface="Montserrat" pitchFamily="2" charset="0"/>
              </a:rPr>
              <a:t>por ano de lançamento</a:t>
            </a:r>
            <a:endParaRPr lang="pt-BR" sz="1400" dirty="0">
              <a:latin typeface="Montserrat" pitchFamily="2" charset="0"/>
            </a:endParaRPr>
          </a:p>
          <a:p>
            <a:pPr lvl="2"/>
            <a:r>
              <a:rPr lang="pt-BR" sz="1400" dirty="0">
                <a:latin typeface="Montserrat" pitchFamily="2" charset="0"/>
              </a:rPr>
              <a:t>4.8) Oferta lançada e oferta atual </a:t>
            </a:r>
            <a:r>
              <a:rPr lang="pt-BR" sz="1400" b="1" dirty="0">
                <a:latin typeface="Montserrat" pitchFamily="2" charset="0"/>
              </a:rPr>
              <a:t>por tipologia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4.9) Análise de preços </a:t>
            </a:r>
            <a:r>
              <a:rPr lang="pt-BR" sz="1400" b="1" dirty="0">
                <a:latin typeface="Montserrat" pitchFamily="2" charset="0"/>
              </a:rPr>
              <a:t>por tipologia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4.10) Análise de preços </a:t>
            </a:r>
            <a:r>
              <a:rPr lang="pt-BR" sz="1400" b="1" dirty="0">
                <a:latin typeface="Montserrat" pitchFamily="2" charset="0"/>
              </a:rPr>
              <a:t>por padrão</a:t>
            </a:r>
            <a:endParaRPr lang="pt-BR" sz="1400" dirty="0">
              <a:latin typeface="Montserrat" pitchFamily="2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DC69412-4C83-0461-1FE0-EA4B6AAC0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3775" y="2672651"/>
            <a:ext cx="8744449" cy="2695855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84E7399-66CC-F59E-453C-25006FB8CAD1}"/>
              </a:ext>
            </a:extLst>
          </p:cNvPr>
          <p:cNvSpPr/>
          <p:nvPr/>
        </p:nvSpPr>
        <p:spPr>
          <a:xfrm>
            <a:off x="5359940" y="2672651"/>
            <a:ext cx="428017" cy="269585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3BC635D-D5AE-EEBE-C658-7C3AA341BEB1}"/>
              </a:ext>
            </a:extLst>
          </p:cNvPr>
          <p:cNvSpPr/>
          <p:nvPr/>
        </p:nvSpPr>
        <p:spPr>
          <a:xfrm>
            <a:off x="4839812" y="5550058"/>
            <a:ext cx="3343484" cy="738664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O n.º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total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 de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oferta lançada 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 deve ser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igual 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 ao n.º total de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unidades por tipologia</a:t>
            </a:r>
            <a:endParaRPr lang="pt-BR" sz="1100" dirty="0">
              <a:solidFill>
                <a:srgbClr val="C00000"/>
              </a:solidFill>
              <a:latin typeface="Montserrat" pitchFamily="2" charset="0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E4A72E0-D722-4EE4-D0A8-121C6AEAEB7D}"/>
              </a:ext>
            </a:extLst>
          </p:cNvPr>
          <p:cNvSpPr/>
          <p:nvPr/>
        </p:nvSpPr>
        <p:spPr>
          <a:xfrm>
            <a:off x="7332319" y="2672650"/>
            <a:ext cx="576268" cy="269585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2790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9DC38-5D2F-9BE8-5243-540EAA98F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AE40B09-6F30-EFC8-7440-62DA4483A00E}"/>
              </a:ext>
            </a:extLst>
          </p:cNvPr>
          <p:cNvSpPr txBox="1">
            <a:spLocks/>
          </p:cNvSpPr>
          <p:nvPr/>
        </p:nvSpPr>
        <p:spPr>
          <a:xfrm>
            <a:off x="0" y="30881"/>
            <a:ext cx="12192000" cy="774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Análise de mercado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AF55EE-4FD1-57B2-2EBA-A6F8BDE336B8}"/>
              </a:ext>
            </a:extLst>
          </p:cNvPr>
          <p:cNvSpPr txBox="1"/>
          <p:nvPr/>
        </p:nvSpPr>
        <p:spPr>
          <a:xfrm>
            <a:off x="0" y="938610"/>
            <a:ext cx="88813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4"/>
            </a:pPr>
            <a:r>
              <a:rPr lang="pt-BR" sz="1400" b="1" dirty="0">
                <a:latin typeface="Montserrat" pitchFamily="2" charset="0"/>
              </a:rPr>
              <a:t>Análise do mercado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4.6) Oferta lançada e oferta atual </a:t>
            </a:r>
            <a:r>
              <a:rPr lang="pt-BR" sz="1400" b="1" dirty="0">
                <a:latin typeface="Montserrat" pitchFamily="2" charset="0"/>
              </a:rPr>
              <a:t>por padrão</a:t>
            </a:r>
            <a:endParaRPr lang="pt-BR" sz="1400" dirty="0">
              <a:latin typeface="Montserrat" pitchFamily="2" charset="0"/>
            </a:endParaRPr>
          </a:p>
          <a:p>
            <a:pPr lvl="2"/>
            <a:r>
              <a:rPr lang="pt-BR" sz="1400" dirty="0">
                <a:latin typeface="Montserrat" pitchFamily="2" charset="0"/>
              </a:rPr>
              <a:t>4.7) Oferta lançada e oferta atual </a:t>
            </a:r>
            <a:r>
              <a:rPr lang="pt-BR" sz="1400" b="1" dirty="0">
                <a:latin typeface="Montserrat" pitchFamily="2" charset="0"/>
              </a:rPr>
              <a:t>por ano de lançamento</a:t>
            </a:r>
            <a:endParaRPr lang="pt-BR" sz="1400" dirty="0">
              <a:latin typeface="Montserrat" pitchFamily="2" charset="0"/>
            </a:endParaRPr>
          </a:p>
          <a:p>
            <a:pPr lvl="2"/>
            <a:r>
              <a:rPr lang="pt-BR" sz="1400" dirty="0">
                <a:latin typeface="Montserrat" pitchFamily="2" charset="0"/>
              </a:rPr>
              <a:t>4.8) Oferta lançada e oferta atual </a:t>
            </a:r>
            <a:r>
              <a:rPr lang="pt-BR" sz="1400" b="1" dirty="0">
                <a:latin typeface="Montserrat" pitchFamily="2" charset="0"/>
              </a:rPr>
              <a:t>por tipologia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4.9) Análise de preços </a:t>
            </a:r>
            <a:r>
              <a:rPr lang="pt-BR" sz="1400" b="1" dirty="0">
                <a:latin typeface="Montserrat" pitchFamily="2" charset="0"/>
              </a:rPr>
              <a:t>por tipologia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4.10) Análise de preços </a:t>
            </a:r>
            <a:r>
              <a:rPr lang="pt-BR" sz="1400" b="1" dirty="0">
                <a:latin typeface="Montserrat" pitchFamily="2" charset="0"/>
              </a:rPr>
              <a:t>por padrão</a:t>
            </a:r>
            <a:endParaRPr lang="pt-BR" sz="1400" dirty="0">
              <a:latin typeface="Montserrat" pitchFamily="2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361BDB5-A459-4ECC-8B88-1A580D54C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51" r="29026"/>
          <a:stretch>
            <a:fillRect/>
          </a:stretch>
        </p:blipFill>
        <p:spPr>
          <a:xfrm>
            <a:off x="8650720" y="192404"/>
            <a:ext cx="3343484" cy="2877406"/>
          </a:xfrm>
          <a:prstGeom prst="rect">
            <a:avLst/>
          </a:prstGeom>
        </p:spPr>
      </p:pic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3B8723A-8C04-10E5-40DE-810B12E81035}"/>
              </a:ext>
            </a:extLst>
          </p:cNvPr>
          <p:cNvSpPr/>
          <p:nvPr/>
        </p:nvSpPr>
        <p:spPr>
          <a:xfrm>
            <a:off x="8902864" y="3069809"/>
            <a:ext cx="2947238" cy="3575997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Em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todas as análises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 (por padrão; por tipologia; por ano de lançamento)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a oferta lançada e a oferta atual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, devem bater com o mesmo total apresentado na consolidada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75D21A9-E0EC-C187-63F8-B6832966368E}"/>
              </a:ext>
            </a:extLst>
          </p:cNvPr>
          <p:cNvSpPr/>
          <p:nvPr/>
        </p:nvSpPr>
        <p:spPr>
          <a:xfrm>
            <a:off x="9238940" y="192404"/>
            <a:ext cx="868097" cy="287740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AC5513C-261F-683C-5D5F-25A0D6B51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96" y="2417157"/>
            <a:ext cx="4395850" cy="202368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C30ED40-F5F4-08E9-84A6-9AD6DD8BD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341" y="4588325"/>
            <a:ext cx="4069335" cy="205748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5732C6AB-8D55-5147-5952-AFDC3B6B21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3083" y="2417157"/>
            <a:ext cx="3946985" cy="2036731"/>
          </a:xfrm>
          <a:prstGeom prst="rect">
            <a:avLst/>
          </a:prstGeom>
        </p:spPr>
      </p:pic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87903AB-EFAF-5F25-5000-D28AD64B2256}"/>
              </a:ext>
            </a:extLst>
          </p:cNvPr>
          <p:cNvSpPr/>
          <p:nvPr/>
        </p:nvSpPr>
        <p:spPr>
          <a:xfrm>
            <a:off x="2640345" y="2903179"/>
            <a:ext cx="919977" cy="153766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2FE3072-0250-8124-7E74-88D55518D563}"/>
              </a:ext>
            </a:extLst>
          </p:cNvPr>
          <p:cNvSpPr/>
          <p:nvPr/>
        </p:nvSpPr>
        <p:spPr>
          <a:xfrm>
            <a:off x="6095999" y="3050354"/>
            <a:ext cx="1137229" cy="147763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C48EF47F-A11E-958E-0E1F-40B7BC301C7F}"/>
              </a:ext>
            </a:extLst>
          </p:cNvPr>
          <p:cNvSpPr/>
          <p:nvPr/>
        </p:nvSpPr>
        <p:spPr>
          <a:xfrm>
            <a:off x="2186237" y="5098415"/>
            <a:ext cx="1033618" cy="153766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8462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5F3E3-C5D6-CB8B-8F2A-724DD9DB2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F5229493-DF0E-66F2-D805-13F637251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16" y="1938169"/>
            <a:ext cx="8315048" cy="4707637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0B42366D-6D49-F168-DD1E-3D6C60C7740B}"/>
              </a:ext>
            </a:extLst>
          </p:cNvPr>
          <p:cNvSpPr txBox="1">
            <a:spLocks/>
          </p:cNvSpPr>
          <p:nvPr/>
        </p:nvSpPr>
        <p:spPr>
          <a:xfrm>
            <a:off x="0" y="30881"/>
            <a:ext cx="12192000" cy="774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Tabelas de lacunas de mercado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2AE36E7-5CD2-D11A-5FEB-B34B5FFD0AD2}"/>
              </a:ext>
            </a:extLst>
          </p:cNvPr>
          <p:cNvSpPr txBox="1"/>
          <p:nvPr/>
        </p:nvSpPr>
        <p:spPr>
          <a:xfrm>
            <a:off x="0" y="938610"/>
            <a:ext cx="888135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5"/>
            </a:pPr>
            <a:r>
              <a:rPr lang="pt-BR" sz="1400" b="1" dirty="0">
                <a:latin typeface="Montserrat" pitchFamily="2" charset="0"/>
              </a:rPr>
              <a:t>Tabelas de lacunas de mercado </a:t>
            </a:r>
            <a:r>
              <a:rPr lang="pt-BR" sz="1400" dirty="0">
                <a:latin typeface="Montserrat" pitchFamily="2" charset="0"/>
              </a:rPr>
              <a:t>(Z.I total)</a:t>
            </a:r>
            <a:endParaRPr lang="pt-BR" sz="1400" b="1" dirty="0">
              <a:latin typeface="Montserrat" pitchFamily="2" charset="0"/>
            </a:endParaRPr>
          </a:p>
          <a:p>
            <a:pPr lvl="2"/>
            <a:r>
              <a:rPr lang="pt-BR" sz="1400" dirty="0">
                <a:latin typeface="Montserrat" pitchFamily="2" charset="0"/>
              </a:rPr>
              <a:t>5.1) Lacunas de mercado | </a:t>
            </a:r>
            <a:r>
              <a:rPr lang="pt-BR" sz="1400" b="1" dirty="0">
                <a:latin typeface="Montserrat" pitchFamily="2" charset="0"/>
              </a:rPr>
              <a:t>tipologia </a:t>
            </a:r>
            <a:r>
              <a:rPr lang="pt-BR" sz="1400" b="1" dirty="0" err="1">
                <a:latin typeface="Montserrat" pitchFamily="2" charset="0"/>
              </a:rPr>
              <a:t>vs</a:t>
            </a:r>
            <a:r>
              <a:rPr lang="pt-BR" sz="1400" b="1" dirty="0">
                <a:latin typeface="Montserrat" pitchFamily="2" charset="0"/>
              </a:rPr>
              <a:t> metragem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5.2) Lacunas de mercado | </a:t>
            </a:r>
            <a:r>
              <a:rPr lang="pt-BR" sz="1400" b="1" dirty="0">
                <a:latin typeface="Montserrat" pitchFamily="2" charset="0"/>
              </a:rPr>
              <a:t>tipologia </a:t>
            </a:r>
            <a:r>
              <a:rPr lang="pt-BR" sz="1400" b="1" dirty="0" err="1">
                <a:latin typeface="Montserrat" pitchFamily="2" charset="0"/>
              </a:rPr>
              <a:t>vs</a:t>
            </a:r>
            <a:r>
              <a:rPr lang="pt-BR" sz="1400" b="1" dirty="0">
                <a:latin typeface="Montserrat" pitchFamily="2" charset="0"/>
              </a:rPr>
              <a:t> preço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5.3) Lacunas de mercado | </a:t>
            </a:r>
            <a:r>
              <a:rPr lang="pt-BR" sz="1400" b="1" dirty="0">
                <a:latin typeface="Montserrat" pitchFamily="2" charset="0"/>
              </a:rPr>
              <a:t>preço </a:t>
            </a:r>
            <a:r>
              <a:rPr lang="pt-BR" sz="1400" b="1" dirty="0" err="1">
                <a:latin typeface="Montserrat" pitchFamily="2" charset="0"/>
              </a:rPr>
              <a:t>vs</a:t>
            </a:r>
            <a:r>
              <a:rPr lang="pt-BR" sz="1400" b="1" dirty="0">
                <a:latin typeface="Montserrat" pitchFamily="2" charset="0"/>
              </a:rPr>
              <a:t> metragem</a:t>
            </a:r>
            <a:endParaRPr lang="pt-BR" sz="1400" dirty="0">
              <a:latin typeface="Montserrat" pitchFamily="2" charset="0"/>
            </a:endParaRPr>
          </a:p>
          <a:p>
            <a:pPr lvl="1"/>
            <a:endParaRPr lang="pt-BR" sz="1400" dirty="0">
              <a:latin typeface="Montserrat" pitchFamily="2" charset="0"/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210521E2-24D8-4723-3558-145BADE0877B}"/>
              </a:ext>
            </a:extLst>
          </p:cNvPr>
          <p:cNvSpPr/>
          <p:nvPr/>
        </p:nvSpPr>
        <p:spPr>
          <a:xfrm>
            <a:off x="7399342" y="3867653"/>
            <a:ext cx="596794" cy="25687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923EDC6-4A21-2A75-B00D-39C4B49DC70F}"/>
              </a:ext>
            </a:extLst>
          </p:cNvPr>
          <p:cNvSpPr/>
          <p:nvPr/>
        </p:nvSpPr>
        <p:spPr>
          <a:xfrm>
            <a:off x="160080" y="6331835"/>
            <a:ext cx="3610988" cy="41052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a Esquerda 13">
            <a:extLst>
              <a:ext uri="{FF2B5EF4-FFF2-40B4-BE49-F238E27FC236}">
                <a16:creationId xmlns:a16="http://schemas.microsoft.com/office/drawing/2014/main" id="{B1238BED-820B-4133-3104-B156AC517D3F}"/>
              </a:ext>
            </a:extLst>
          </p:cNvPr>
          <p:cNvSpPr/>
          <p:nvPr/>
        </p:nvSpPr>
        <p:spPr>
          <a:xfrm>
            <a:off x="3783132" y="6203161"/>
            <a:ext cx="5671232" cy="667874"/>
          </a:xfrm>
          <a:prstGeom prst="leftArrow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C00000"/>
                </a:solidFill>
                <a:latin typeface="Montserrat" pitchFamily="2" charset="0"/>
              </a:rPr>
              <a:t>Precisa ser indicado no slide a fonte e elaboração, e ter na nota explicativa 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B31B81E-C03D-6069-BB96-DDEC6FAD85F6}"/>
              </a:ext>
            </a:extLst>
          </p:cNvPr>
          <p:cNvSpPr/>
          <p:nvPr/>
        </p:nvSpPr>
        <p:spPr>
          <a:xfrm>
            <a:off x="8717062" y="3524432"/>
            <a:ext cx="2947238" cy="1705103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A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oferta lançada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 e a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oferta final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 da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Z.I total do estudo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, </a:t>
            </a:r>
            <a:r>
              <a:rPr lang="pt-BR" sz="1100" b="1" u="sng" dirty="0">
                <a:solidFill>
                  <a:srgbClr val="C00000"/>
                </a:solidFill>
                <a:latin typeface="Montserrat" pitchFamily="2" charset="0"/>
              </a:rPr>
              <a:t>DESCONSIDERANDO</a:t>
            </a:r>
          </a:p>
          <a:p>
            <a:pPr algn="ctr"/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Gardens, Duplex e Coberturas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760C9B9-8B51-B099-755B-F60D763D4A31}"/>
              </a:ext>
            </a:extLst>
          </p:cNvPr>
          <p:cNvSpPr/>
          <p:nvPr/>
        </p:nvSpPr>
        <p:spPr>
          <a:xfrm>
            <a:off x="7399342" y="4908212"/>
            <a:ext cx="596794" cy="25687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Seta: para a Esquerda e para Cima 23">
            <a:extLst>
              <a:ext uri="{FF2B5EF4-FFF2-40B4-BE49-F238E27FC236}">
                <a16:creationId xmlns:a16="http://schemas.microsoft.com/office/drawing/2014/main" id="{712E3894-9AE6-AC30-4B19-911D8DE6B6AC}"/>
              </a:ext>
            </a:extLst>
          </p:cNvPr>
          <p:cNvSpPr/>
          <p:nvPr/>
        </p:nvSpPr>
        <p:spPr>
          <a:xfrm rot="18581522">
            <a:off x="7841186" y="3996089"/>
            <a:ext cx="885217" cy="903917"/>
          </a:xfrm>
          <a:prstGeom prst="leftUpArrow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016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AB81D-8DB9-A6FD-5986-89BEF19B5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F5824F77-408A-8517-C3D7-D12493655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574" y="1923826"/>
            <a:ext cx="6714011" cy="414452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BA7A5D2-7E53-97A0-E394-37A9A9F71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8" y="2625915"/>
            <a:ext cx="6316170" cy="3502136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A0B97774-083E-68B9-9DE8-A01631AAF931}"/>
              </a:ext>
            </a:extLst>
          </p:cNvPr>
          <p:cNvSpPr txBox="1">
            <a:spLocks/>
          </p:cNvSpPr>
          <p:nvPr/>
        </p:nvSpPr>
        <p:spPr>
          <a:xfrm>
            <a:off x="0" y="30881"/>
            <a:ext cx="12192000" cy="774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Tabelas de lacunas de mercado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E990282-5A79-35D7-4CCD-B85BF272157D}"/>
              </a:ext>
            </a:extLst>
          </p:cNvPr>
          <p:cNvSpPr txBox="1"/>
          <p:nvPr/>
        </p:nvSpPr>
        <p:spPr>
          <a:xfrm>
            <a:off x="0" y="938610"/>
            <a:ext cx="888135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5"/>
            </a:pPr>
            <a:r>
              <a:rPr lang="pt-BR" sz="1400" b="1" dirty="0">
                <a:latin typeface="Montserrat" pitchFamily="2" charset="0"/>
              </a:rPr>
              <a:t>Tabelas de lacunas de mercado </a:t>
            </a:r>
            <a:r>
              <a:rPr lang="pt-BR" sz="1400" dirty="0">
                <a:latin typeface="Montserrat" pitchFamily="2" charset="0"/>
              </a:rPr>
              <a:t>(Z.I total)</a:t>
            </a:r>
            <a:endParaRPr lang="pt-BR" sz="1400" b="1" dirty="0">
              <a:latin typeface="Montserrat" pitchFamily="2" charset="0"/>
            </a:endParaRPr>
          </a:p>
          <a:p>
            <a:pPr lvl="2"/>
            <a:r>
              <a:rPr lang="pt-BR" sz="1400" dirty="0">
                <a:latin typeface="Montserrat" pitchFamily="2" charset="0"/>
              </a:rPr>
              <a:t>5.1) Lacunas de mercado | </a:t>
            </a:r>
            <a:r>
              <a:rPr lang="pt-BR" sz="1400" b="1" dirty="0">
                <a:latin typeface="Montserrat" pitchFamily="2" charset="0"/>
              </a:rPr>
              <a:t>tipologia </a:t>
            </a:r>
            <a:r>
              <a:rPr lang="pt-BR" sz="1400" b="1" dirty="0" err="1">
                <a:latin typeface="Montserrat" pitchFamily="2" charset="0"/>
              </a:rPr>
              <a:t>vs</a:t>
            </a:r>
            <a:r>
              <a:rPr lang="pt-BR" sz="1400" b="1" dirty="0">
                <a:latin typeface="Montserrat" pitchFamily="2" charset="0"/>
              </a:rPr>
              <a:t> metragem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5.2) Lacunas de mercado | </a:t>
            </a:r>
            <a:r>
              <a:rPr lang="pt-BR" sz="1400" b="1" dirty="0">
                <a:latin typeface="Montserrat" pitchFamily="2" charset="0"/>
              </a:rPr>
              <a:t>tipologia </a:t>
            </a:r>
            <a:r>
              <a:rPr lang="pt-BR" sz="1400" b="1" dirty="0" err="1">
                <a:latin typeface="Montserrat" pitchFamily="2" charset="0"/>
              </a:rPr>
              <a:t>vs</a:t>
            </a:r>
            <a:r>
              <a:rPr lang="pt-BR" sz="1400" b="1" dirty="0">
                <a:latin typeface="Montserrat" pitchFamily="2" charset="0"/>
              </a:rPr>
              <a:t> preço</a:t>
            </a:r>
          </a:p>
          <a:p>
            <a:pPr lvl="2"/>
            <a:r>
              <a:rPr lang="pt-BR" sz="1400" dirty="0">
                <a:latin typeface="Montserrat" pitchFamily="2" charset="0"/>
              </a:rPr>
              <a:t>5.3) Lacunas de mercado | </a:t>
            </a:r>
            <a:r>
              <a:rPr lang="pt-BR" sz="1400" b="1" dirty="0">
                <a:latin typeface="Montserrat" pitchFamily="2" charset="0"/>
              </a:rPr>
              <a:t>preço </a:t>
            </a:r>
            <a:r>
              <a:rPr lang="pt-BR" sz="1400" b="1" dirty="0" err="1">
                <a:latin typeface="Montserrat" pitchFamily="2" charset="0"/>
              </a:rPr>
              <a:t>vs</a:t>
            </a:r>
            <a:r>
              <a:rPr lang="pt-BR" sz="1400" b="1" dirty="0">
                <a:latin typeface="Montserrat" pitchFamily="2" charset="0"/>
              </a:rPr>
              <a:t> metragem</a:t>
            </a:r>
            <a:endParaRPr lang="pt-BR" sz="1400" dirty="0">
              <a:latin typeface="Montserrat" pitchFamily="2" charset="0"/>
            </a:endParaRPr>
          </a:p>
          <a:p>
            <a:pPr lvl="1"/>
            <a:endParaRPr lang="pt-BR" sz="1400" dirty="0">
              <a:latin typeface="Montserrat" pitchFamily="2" charset="0"/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5162A404-5123-A70D-6141-12DF7A0C9BFA}"/>
              </a:ext>
            </a:extLst>
          </p:cNvPr>
          <p:cNvSpPr/>
          <p:nvPr/>
        </p:nvSpPr>
        <p:spPr>
          <a:xfrm>
            <a:off x="5532245" y="4093432"/>
            <a:ext cx="596794" cy="25687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463D199-DF6B-3C52-5B6A-C1FABB4A5F4B}"/>
              </a:ext>
            </a:extLst>
          </p:cNvPr>
          <p:cNvSpPr/>
          <p:nvPr/>
        </p:nvSpPr>
        <p:spPr>
          <a:xfrm>
            <a:off x="5261574" y="5137872"/>
            <a:ext cx="6316170" cy="1426020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Nestas análises,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oferta lançada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 e a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oferta final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 da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Z.I total do estudo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, </a:t>
            </a:r>
            <a:r>
              <a:rPr lang="pt-BR" sz="1100" b="1" u="sng" dirty="0">
                <a:solidFill>
                  <a:srgbClr val="C00000"/>
                </a:solidFill>
                <a:latin typeface="Montserrat" pitchFamily="2" charset="0"/>
              </a:rPr>
              <a:t>DESCONSIDERANDO</a:t>
            </a:r>
          </a:p>
          <a:p>
            <a:pPr algn="ctr"/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Gardens, Duplex, Coberturas e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esgotados</a:t>
            </a:r>
            <a:endParaRPr lang="pt-BR" sz="1100" dirty="0">
              <a:solidFill>
                <a:srgbClr val="C00000"/>
              </a:solidFill>
              <a:latin typeface="Montserrat" pitchFamily="2" charset="0"/>
            </a:endParaRP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DF33CDB2-A0AA-CF50-9BCF-F16B7B9288BB}"/>
              </a:ext>
            </a:extLst>
          </p:cNvPr>
          <p:cNvSpPr/>
          <p:nvPr/>
        </p:nvSpPr>
        <p:spPr>
          <a:xfrm>
            <a:off x="5583912" y="4820403"/>
            <a:ext cx="596794" cy="25687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43B0DAC-63DB-BC53-0DA8-2796173EBAB6}"/>
              </a:ext>
            </a:extLst>
          </p:cNvPr>
          <p:cNvSpPr/>
          <p:nvPr/>
        </p:nvSpPr>
        <p:spPr>
          <a:xfrm>
            <a:off x="11316575" y="3494898"/>
            <a:ext cx="596794" cy="25687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D032E75-10E9-FA8F-DF3B-699DC77F93BF}"/>
              </a:ext>
            </a:extLst>
          </p:cNvPr>
          <p:cNvSpPr/>
          <p:nvPr/>
        </p:nvSpPr>
        <p:spPr>
          <a:xfrm>
            <a:off x="11378791" y="4522898"/>
            <a:ext cx="596794" cy="25687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DB0E2B1A-0F43-0ED2-A75A-F6FB48FD972D}"/>
              </a:ext>
            </a:extLst>
          </p:cNvPr>
          <p:cNvSpPr/>
          <p:nvPr/>
        </p:nvSpPr>
        <p:spPr>
          <a:xfrm>
            <a:off x="869453" y="1194323"/>
            <a:ext cx="4662792" cy="64402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4BB6834-4312-4DB3-5E5B-3E49A39483DF}"/>
              </a:ext>
            </a:extLst>
          </p:cNvPr>
          <p:cNvSpPr/>
          <p:nvPr/>
        </p:nvSpPr>
        <p:spPr>
          <a:xfrm>
            <a:off x="5460494" y="1082899"/>
            <a:ext cx="6316170" cy="774126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Nas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três análises de lacunas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 de mercado a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oferta final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será a mesma</a:t>
            </a:r>
          </a:p>
          <a:p>
            <a:pPr algn="ctr"/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Já a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oferta lançada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 na primeira análise (tipologia </a:t>
            </a:r>
            <a:r>
              <a:rPr lang="pt-BR" sz="1100" dirty="0" err="1">
                <a:solidFill>
                  <a:srgbClr val="C00000"/>
                </a:solidFill>
                <a:latin typeface="Montserrat" pitchFamily="2" charset="0"/>
              </a:rPr>
              <a:t>vs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 metragem)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 ela considera das unidades esgotadas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, depois nas análises: “tipologia </a:t>
            </a:r>
            <a:r>
              <a:rPr lang="pt-BR" sz="1100" dirty="0" err="1">
                <a:solidFill>
                  <a:srgbClr val="C00000"/>
                </a:solidFill>
                <a:latin typeface="Montserrat" pitchFamily="2" charset="0"/>
              </a:rPr>
              <a:t>vs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 preço” e “tipologia </a:t>
            </a:r>
            <a:r>
              <a:rPr lang="pt-BR" sz="1100" dirty="0" err="1">
                <a:solidFill>
                  <a:srgbClr val="C00000"/>
                </a:solidFill>
                <a:latin typeface="Montserrat" pitchFamily="2" charset="0"/>
              </a:rPr>
              <a:t>vs</a:t>
            </a:r>
            <a:r>
              <a:rPr lang="pt-BR" sz="1100" dirty="0">
                <a:solidFill>
                  <a:srgbClr val="C00000"/>
                </a:solidFill>
                <a:latin typeface="Montserrat" pitchFamily="2" charset="0"/>
              </a:rPr>
              <a:t> metragem” é </a:t>
            </a:r>
            <a:r>
              <a:rPr lang="pt-BR" sz="1100" b="1" dirty="0">
                <a:solidFill>
                  <a:srgbClr val="C00000"/>
                </a:solidFill>
                <a:latin typeface="Montserrat" pitchFamily="2" charset="0"/>
              </a:rPr>
              <a:t>desconsiderado as esgotadas</a:t>
            </a:r>
            <a:endParaRPr lang="pt-BR" sz="1100" dirty="0">
              <a:solidFill>
                <a:srgbClr val="C00000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0715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1348</Words>
  <Application>Microsoft Office PowerPoint</Application>
  <PresentationFormat>Widescreen</PresentationFormat>
  <Paragraphs>154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Montserrat</vt:lpstr>
      <vt:lpstr>Tahoma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Paula Kingeski</dc:creator>
  <cp:lastModifiedBy>Ana Paula Kingeski</cp:lastModifiedBy>
  <cp:revision>4</cp:revision>
  <dcterms:created xsi:type="dcterms:W3CDTF">2026-06-28T22:23:44Z</dcterms:created>
  <dcterms:modified xsi:type="dcterms:W3CDTF">2026-06-29T00:46:10Z</dcterms:modified>
</cp:coreProperties>
</file>